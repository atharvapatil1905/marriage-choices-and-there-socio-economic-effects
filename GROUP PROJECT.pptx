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Boston Angel" panose="020B0604020202020204" charset="0"/>
      <p:regular r:id="rId22"/>
    </p:embeddedFont>
    <p:embeddedFont>
      <p:font typeface="Boston Angel Bold" panose="020B0604020202020204" charset="0"/>
      <p:regular r:id="rId23"/>
    </p:embeddedFont>
    <p:embeddedFont>
      <p:font typeface="Caladea" panose="020B0604020202020204" charset="0"/>
      <p:regular r:id="rId24"/>
    </p:embeddedFont>
    <p:embeddedFont>
      <p:font typeface="Canva Sans Bold" panose="020B0604020202020204" charset="0"/>
      <p:regular r:id="rId25"/>
    </p:embeddedFont>
    <p:embeddedFont>
      <p:font typeface="Public Sans" panose="020B0604020202020204" charset="0"/>
      <p:regular r:id="rId26"/>
    </p:embeddedFont>
    <p:embeddedFont>
      <p:font typeface="Roca One" panose="020B0604020202020204" charset="0"/>
      <p:regular r:id="rId27"/>
    </p:embeddedFont>
    <p:embeddedFont>
      <p:font typeface="Roca One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57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2539434" y="3778483"/>
            <a:ext cx="5748566" cy="6573204"/>
          </a:xfrm>
          <a:custGeom>
            <a:avLst/>
            <a:gdLst/>
            <a:ahLst/>
            <a:cxnLst/>
            <a:rect l="l" t="t" r="r" b="b"/>
            <a:pathLst>
              <a:path w="5748566" h="6573204">
                <a:moveTo>
                  <a:pt x="0" y="0"/>
                </a:moveTo>
                <a:lnTo>
                  <a:pt x="5748566" y="0"/>
                </a:lnTo>
                <a:lnTo>
                  <a:pt x="5748566" y="6573204"/>
                </a:lnTo>
                <a:lnTo>
                  <a:pt x="0" y="65732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0" y="0"/>
            <a:ext cx="6519109" cy="2726173"/>
          </a:xfrm>
          <a:custGeom>
            <a:avLst/>
            <a:gdLst/>
            <a:ahLst/>
            <a:cxnLst/>
            <a:rect l="l" t="t" r="r" b="b"/>
            <a:pathLst>
              <a:path w="6519109" h="2726173">
                <a:moveTo>
                  <a:pt x="0" y="0"/>
                </a:moveTo>
                <a:lnTo>
                  <a:pt x="6519109" y="0"/>
                </a:lnTo>
                <a:lnTo>
                  <a:pt x="6519109" y="2726173"/>
                </a:lnTo>
                <a:lnTo>
                  <a:pt x="0" y="27261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rot="-5400000">
            <a:off x="-1029439" y="7198684"/>
            <a:ext cx="4117755" cy="2058877"/>
          </a:xfrm>
          <a:custGeom>
            <a:avLst/>
            <a:gdLst/>
            <a:ahLst/>
            <a:cxnLst/>
            <a:rect l="l" t="t" r="r" b="b"/>
            <a:pathLst>
              <a:path w="4117755" h="2058877">
                <a:moveTo>
                  <a:pt x="0" y="0"/>
                </a:moveTo>
                <a:lnTo>
                  <a:pt x="4117755" y="0"/>
                </a:lnTo>
                <a:lnTo>
                  <a:pt x="4117755" y="2058877"/>
                </a:lnTo>
                <a:lnTo>
                  <a:pt x="0" y="20588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rot="-10800000">
            <a:off x="16343092" y="36400"/>
            <a:ext cx="1944908" cy="1984600"/>
          </a:xfrm>
          <a:custGeom>
            <a:avLst/>
            <a:gdLst/>
            <a:ahLst/>
            <a:cxnLst/>
            <a:rect l="l" t="t" r="r" b="b"/>
            <a:pathLst>
              <a:path w="1944908" h="1984600">
                <a:moveTo>
                  <a:pt x="0" y="0"/>
                </a:moveTo>
                <a:lnTo>
                  <a:pt x="1944908" y="0"/>
                </a:lnTo>
                <a:lnTo>
                  <a:pt x="1944908" y="1984600"/>
                </a:lnTo>
                <a:lnTo>
                  <a:pt x="0" y="19846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 name="TextBox 6"/>
          <p:cNvSpPr txBox="1"/>
          <p:nvPr/>
        </p:nvSpPr>
        <p:spPr>
          <a:xfrm>
            <a:off x="514719" y="3598901"/>
            <a:ext cx="17258561" cy="2570344"/>
          </a:xfrm>
          <a:prstGeom prst="rect">
            <a:avLst/>
          </a:prstGeom>
        </p:spPr>
        <p:txBody>
          <a:bodyPr lIns="0" tIns="0" rIns="0" bIns="0" rtlCol="0" anchor="t">
            <a:spAutoFit/>
          </a:bodyPr>
          <a:lstStyle/>
          <a:p>
            <a:pPr algn="ctr">
              <a:lnSpc>
                <a:spcPts val="10059"/>
              </a:lnSpc>
            </a:pPr>
            <a:r>
              <a:rPr lang="en-US" sz="9144">
                <a:solidFill>
                  <a:srgbClr val="21575B"/>
                </a:solidFill>
                <a:latin typeface="Roca One"/>
                <a:ea typeface="Roca One"/>
                <a:cs typeface="Roca One"/>
                <a:sym typeface="Roca One"/>
              </a:rPr>
              <a:t>Marriage Choices and</a:t>
            </a:r>
          </a:p>
          <a:p>
            <a:pPr algn="ctr">
              <a:lnSpc>
                <a:spcPts val="10059"/>
              </a:lnSpc>
            </a:pPr>
            <a:r>
              <a:rPr lang="en-US" sz="9144">
                <a:solidFill>
                  <a:srgbClr val="21575B"/>
                </a:solidFill>
                <a:latin typeface="Roca One"/>
                <a:ea typeface="Roca One"/>
                <a:cs typeface="Roca One"/>
                <a:sym typeface="Roca One"/>
              </a:rPr>
              <a:t>Their Socio - Economic Effects</a:t>
            </a:r>
          </a:p>
        </p:txBody>
      </p:sp>
      <p:sp>
        <p:nvSpPr>
          <p:cNvPr id="7" name="TextBox 7"/>
          <p:cNvSpPr txBox="1"/>
          <p:nvPr/>
        </p:nvSpPr>
        <p:spPr>
          <a:xfrm>
            <a:off x="5727133" y="6606927"/>
            <a:ext cx="6690116" cy="821067"/>
          </a:xfrm>
          <a:prstGeom prst="rect">
            <a:avLst/>
          </a:prstGeom>
        </p:spPr>
        <p:txBody>
          <a:bodyPr lIns="0" tIns="0" rIns="0" bIns="0" rtlCol="0" anchor="t">
            <a:spAutoFit/>
          </a:bodyPr>
          <a:lstStyle/>
          <a:p>
            <a:pPr algn="ctr">
              <a:lnSpc>
                <a:spcPts val="6719"/>
              </a:lnSpc>
              <a:spcBef>
                <a:spcPct val="0"/>
              </a:spcBef>
            </a:pPr>
            <a:r>
              <a:rPr lang="en-US" sz="4800">
                <a:solidFill>
                  <a:srgbClr val="21575B"/>
                </a:solidFill>
                <a:latin typeface="Caladea"/>
                <a:ea typeface="Caladea"/>
                <a:cs typeface="Caladea"/>
                <a:sym typeface="Caladea"/>
              </a:rPr>
              <a:t>GROUP - 3  FIELD PROJECT</a:t>
            </a:r>
          </a:p>
        </p:txBody>
      </p:sp>
      <p:sp>
        <p:nvSpPr>
          <p:cNvPr id="8" name="TextBox 8"/>
          <p:cNvSpPr txBox="1"/>
          <p:nvPr/>
        </p:nvSpPr>
        <p:spPr>
          <a:xfrm>
            <a:off x="5496224" y="636862"/>
            <a:ext cx="7295553" cy="1653700"/>
          </a:xfrm>
          <a:prstGeom prst="rect">
            <a:avLst/>
          </a:prstGeom>
        </p:spPr>
        <p:txBody>
          <a:bodyPr lIns="0" tIns="0" rIns="0" bIns="0" rtlCol="0" anchor="t">
            <a:spAutoFit/>
          </a:bodyPr>
          <a:lstStyle/>
          <a:p>
            <a:pPr algn="ctr">
              <a:lnSpc>
                <a:spcPts val="6693"/>
              </a:lnSpc>
            </a:pPr>
            <a:r>
              <a:rPr lang="en-US" sz="4780" b="1">
                <a:solidFill>
                  <a:srgbClr val="21575B"/>
                </a:solidFill>
                <a:latin typeface="Canva Sans Bold"/>
                <a:ea typeface="Canva Sans Bold"/>
                <a:cs typeface="Canva Sans Bold"/>
                <a:sym typeface="Canva Sans Bold"/>
              </a:rPr>
              <a:t>Department of Statistics</a:t>
            </a:r>
          </a:p>
          <a:p>
            <a:pPr algn="ctr">
              <a:lnSpc>
                <a:spcPts val="6693"/>
              </a:lnSpc>
            </a:pPr>
            <a:endParaRPr lang="en-US" sz="4780" b="1">
              <a:solidFill>
                <a:srgbClr val="21575B"/>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479175" y="2112983"/>
            <a:ext cx="5405174" cy="5306898"/>
          </a:xfrm>
          <a:custGeom>
            <a:avLst/>
            <a:gdLst/>
            <a:ahLst/>
            <a:cxnLst/>
            <a:rect l="l" t="t" r="r" b="b"/>
            <a:pathLst>
              <a:path w="5405174" h="5306898">
                <a:moveTo>
                  <a:pt x="0" y="0"/>
                </a:moveTo>
                <a:lnTo>
                  <a:pt x="5405174" y="0"/>
                </a:lnTo>
                <a:lnTo>
                  <a:pt x="5405174" y="5306898"/>
                </a:lnTo>
                <a:lnTo>
                  <a:pt x="0" y="5306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178282" y="0"/>
            <a:ext cx="8109718" cy="3391337"/>
          </a:xfrm>
          <a:custGeom>
            <a:avLst/>
            <a:gdLst/>
            <a:ahLst/>
            <a:cxnLst/>
            <a:rect l="l" t="t" r="r" b="b"/>
            <a:pathLst>
              <a:path w="8109718" h="3391337">
                <a:moveTo>
                  <a:pt x="0" y="0"/>
                </a:moveTo>
                <a:lnTo>
                  <a:pt x="8109718" y="0"/>
                </a:lnTo>
                <a:lnTo>
                  <a:pt x="8109718" y="3391337"/>
                </a:lnTo>
                <a:lnTo>
                  <a:pt x="0" y="33913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9558632" y="1878211"/>
            <a:ext cx="8270059" cy="1454190"/>
          </a:xfrm>
          <a:prstGeom prst="rect">
            <a:avLst/>
          </a:prstGeom>
        </p:spPr>
        <p:txBody>
          <a:bodyPr lIns="0" tIns="0" rIns="0" bIns="0" rtlCol="0" anchor="t">
            <a:spAutoFit/>
          </a:bodyPr>
          <a:lstStyle/>
          <a:p>
            <a:pPr marL="0" lvl="0" indent="0" algn="ctr">
              <a:lnSpc>
                <a:spcPts val="11200"/>
              </a:lnSpc>
              <a:spcBef>
                <a:spcPct val="0"/>
              </a:spcBef>
            </a:pPr>
            <a:r>
              <a:rPr lang="en-US" sz="8000" u="none" strike="noStrike">
                <a:solidFill>
                  <a:srgbClr val="21575B"/>
                </a:solidFill>
                <a:latin typeface="Boston Angel"/>
                <a:ea typeface="Boston Angel"/>
                <a:cs typeface="Boston Angel"/>
                <a:sym typeface="Boston Angel"/>
              </a:rPr>
              <a:t>TEAM MEMBERS </a:t>
            </a:r>
          </a:p>
        </p:txBody>
      </p:sp>
      <p:sp>
        <p:nvSpPr>
          <p:cNvPr id="5" name="TextBox 5"/>
          <p:cNvSpPr txBox="1"/>
          <p:nvPr/>
        </p:nvSpPr>
        <p:spPr>
          <a:xfrm>
            <a:off x="9558632" y="3550861"/>
            <a:ext cx="8251009" cy="3869049"/>
          </a:xfrm>
          <a:prstGeom prst="rect">
            <a:avLst/>
          </a:prstGeom>
        </p:spPr>
        <p:txBody>
          <a:bodyPr lIns="0" tIns="0" rIns="0" bIns="0" rtlCol="0" anchor="t">
            <a:spAutoFit/>
          </a:bodyPr>
          <a:lstStyle/>
          <a:p>
            <a:pPr marL="955659" lvl="1" indent="-477829" algn="l">
              <a:lnSpc>
                <a:spcPts val="6196"/>
              </a:lnSpc>
              <a:buFont typeface="Arial"/>
              <a:buChar char="•"/>
            </a:pPr>
            <a:r>
              <a:rPr lang="en-US" sz="4426">
                <a:solidFill>
                  <a:srgbClr val="505050"/>
                </a:solidFill>
                <a:latin typeface="Roca One"/>
                <a:ea typeface="Roca One"/>
                <a:cs typeface="Roca One"/>
                <a:sym typeface="Roca One"/>
              </a:rPr>
              <a:t>Mugdha Wagholikar-8266</a:t>
            </a:r>
          </a:p>
          <a:p>
            <a:pPr marL="955659" lvl="1" indent="-477829" algn="l">
              <a:lnSpc>
                <a:spcPts val="6196"/>
              </a:lnSpc>
              <a:buFont typeface="Arial"/>
              <a:buChar char="•"/>
            </a:pPr>
            <a:r>
              <a:rPr lang="en-US" sz="4426">
                <a:solidFill>
                  <a:srgbClr val="505050"/>
                </a:solidFill>
                <a:latin typeface="Roca One"/>
                <a:ea typeface="Roca One"/>
                <a:cs typeface="Roca One"/>
                <a:sym typeface="Roca One"/>
              </a:rPr>
              <a:t>Aditi Khambe-8309</a:t>
            </a:r>
          </a:p>
          <a:p>
            <a:pPr marL="955659" lvl="1" indent="-477829" algn="l">
              <a:lnSpc>
                <a:spcPts val="6196"/>
              </a:lnSpc>
              <a:buFont typeface="Arial"/>
              <a:buChar char="•"/>
            </a:pPr>
            <a:r>
              <a:rPr lang="en-US" sz="4426">
                <a:solidFill>
                  <a:srgbClr val="505050"/>
                </a:solidFill>
                <a:latin typeface="Roca One"/>
                <a:ea typeface="Roca One"/>
                <a:cs typeface="Roca One"/>
                <a:sym typeface="Roca One"/>
              </a:rPr>
              <a:t>Samruddhi Kulkarni-8272</a:t>
            </a:r>
          </a:p>
          <a:p>
            <a:pPr marL="955659" lvl="1" indent="-477829" algn="l">
              <a:lnSpc>
                <a:spcPts val="6196"/>
              </a:lnSpc>
              <a:buFont typeface="Arial"/>
              <a:buChar char="•"/>
            </a:pPr>
            <a:r>
              <a:rPr lang="en-US" sz="4426">
                <a:solidFill>
                  <a:srgbClr val="505050"/>
                </a:solidFill>
                <a:latin typeface="Roca One"/>
                <a:ea typeface="Roca One"/>
                <a:cs typeface="Roca One"/>
                <a:sym typeface="Roca One"/>
              </a:rPr>
              <a:t>Vedika Pawar-8257</a:t>
            </a:r>
          </a:p>
          <a:p>
            <a:pPr marL="955659" lvl="1" indent="-477829" algn="l">
              <a:lnSpc>
                <a:spcPts val="6196"/>
              </a:lnSpc>
              <a:buFont typeface="Arial"/>
              <a:buChar char="•"/>
            </a:pPr>
            <a:r>
              <a:rPr lang="en-US" sz="4426">
                <a:solidFill>
                  <a:srgbClr val="505050"/>
                </a:solidFill>
                <a:latin typeface="Roca One"/>
                <a:ea typeface="Roca One"/>
                <a:cs typeface="Roca One"/>
                <a:sym typeface="Roca One"/>
              </a:rPr>
              <a:t>Atharva Patil-8312</a:t>
            </a:r>
          </a:p>
        </p:txBody>
      </p:sp>
      <p:sp>
        <p:nvSpPr>
          <p:cNvPr id="6" name="TextBox 6"/>
          <p:cNvSpPr txBox="1"/>
          <p:nvPr/>
        </p:nvSpPr>
        <p:spPr>
          <a:xfrm>
            <a:off x="726835" y="7496081"/>
            <a:ext cx="5727791" cy="1137286"/>
          </a:xfrm>
          <a:prstGeom prst="rect">
            <a:avLst/>
          </a:prstGeom>
        </p:spPr>
        <p:txBody>
          <a:bodyPr lIns="0" tIns="0" rIns="0" bIns="0" rtlCol="0" anchor="t">
            <a:spAutoFit/>
          </a:bodyPr>
          <a:lstStyle/>
          <a:p>
            <a:pPr marL="0" lvl="0" indent="0" algn="l">
              <a:lnSpc>
                <a:spcPts val="7920"/>
              </a:lnSpc>
              <a:spcBef>
                <a:spcPct val="0"/>
              </a:spcBef>
            </a:pPr>
            <a:r>
              <a:rPr lang="en-US" sz="8000" u="none" strike="noStrike">
                <a:solidFill>
                  <a:srgbClr val="21575B"/>
                </a:solidFill>
                <a:latin typeface="Boston Angel"/>
                <a:ea typeface="Boston Angel"/>
                <a:cs typeface="Boston Angel"/>
                <a:sym typeface="Boston Angel"/>
              </a:rPr>
              <a:t>Mentor :</a:t>
            </a:r>
          </a:p>
        </p:txBody>
      </p:sp>
      <p:sp>
        <p:nvSpPr>
          <p:cNvPr id="7" name="TextBox 7"/>
          <p:cNvSpPr txBox="1"/>
          <p:nvPr/>
        </p:nvSpPr>
        <p:spPr>
          <a:xfrm>
            <a:off x="726835" y="8809604"/>
            <a:ext cx="7113980" cy="802143"/>
          </a:xfrm>
          <a:prstGeom prst="rect">
            <a:avLst/>
          </a:prstGeom>
        </p:spPr>
        <p:txBody>
          <a:bodyPr lIns="0" tIns="0" rIns="0" bIns="0" rtlCol="0" anchor="t">
            <a:spAutoFit/>
          </a:bodyPr>
          <a:lstStyle/>
          <a:p>
            <a:pPr marL="0" lvl="0" indent="0" algn="l">
              <a:lnSpc>
                <a:spcPts val="6583"/>
              </a:lnSpc>
              <a:spcBef>
                <a:spcPct val="0"/>
              </a:spcBef>
            </a:pPr>
            <a:r>
              <a:rPr lang="en-US" sz="4702">
                <a:solidFill>
                  <a:srgbClr val="505050"/>
                </a:solidFill>
                <a:latin typeface="Roca One"/>
                <a:ea typeface="Roca One"/>
                <a:cs typeface="Roca One"/>
                <a:sym typeface="Roca One"/>
              </a:rPr>
              <a:t>Miss</a:t>
            </a:r>
            <a:r>
              <a:rPr lang="en-US" sz="4702" u="none" strike="noStrike">
                <a:solidFill>
                  <a:srgbClr val="505050"/>
                </a:solidFill>
                <a:latin typeface="Roca One"/>
                <a:ea typeface="Roca One"/>
                <a:cs typeface="Roca One"/>
                <a:sym typeface="Roca One"/>
              </a:rPr>
              <a:t>. Rutuja Joshi Ma’am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10303"/>
            <a:ext cx="8109718" cy="3391337"/>
          </a:xfrm>
          <a:custGeom>
            <a:avLst/>
            <a:gdLst/>
            <a:ahLst/>
            <a:cxnLst/>
            <a:rect l="l" t="t" r="r" b="b"/>
            <a:pathLst>
              <a:path w="8109718" h="3391337">
                <a:moveTo>
                  <a:pt x="0" y="0"/>
                </a:moveTo>
                <a:lnTo>
                  <a:pt x="8109718" y="0"/>
                </a:lnTo>
                <a:lnTo>
                  <a:pt x="8109718" y="3391336"/>
                </a:lnTo>
                <a:lnTo>
                  <a:pt x="0" y="33913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178282" y="6895663"/>
            <a:ext cx="8109718" cy="3391337"/>
          </a:xfrm>
          <a:custGeom>
            <a:avLst/>
            <a:gdLst/>
            <a:ahLst/>
            <a:cxnLst/>
            <a:rect l="l" t="t" r="r" b="b"/>
            <a:pathLst>
              <a:path w="8109718" h="3391337">
                <a:moveTo>
                  <a:pt x="0" y="0"/>
                </a:moveTo>
                <a:lnTo>
                  <a:pt x="8109718" y="0"/>
                </a:lnTo>
                <a:lnTo>
                  <a:pt x="8109718" y="3391337"/>
                </a:lnTo>
                <a:lnTo>
                  <a:pt x="0" y="33913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0" y="3315914"/>
            <a:ext cx="15440341" cy="4518300"/>
          </a:xfrm>
          <a:prstGeom prst="rect">
            <a:avLst/>
          </a:prstGeom>
        </p:spPr>
        <p:txBody>
          <a:bodyPr lIns="0" tIns="0" rIns="0" bIns="0" rtlCol="0" anchor="t">
            <a:spAutoFit/>
          </a:bodyPr>
          <a:lstStyle/>
          <a:p>
            <a:pPr marL="936072" lvl="1" indent="-468036" algn="l">
              <a:lnSpc>
                <a:spcPts val="6069"/>
              </a:lnSpc>
              <a:spcBef>
                <a:spcPct val="0"/>
              </a:spcBef>
              <a:buFont typeface="Arial"/>
              <a:buChar char="•"/>
            </a:pPr>
            <a:r>
              <a:rPr lang="en-US" sz="4335" b="1" u="none" strike="noStrike">
                <a:solidFill>
                  <a:srgbClr val="505050"/>
                </a:solidFill>
                <a:latin typeface="Roca One Bold"/>
                <a:ea typeface="Roca One Bold"/>
                <a:cs typeface="Roca One Bold"/>
                <a:sym typeface="Roca One Bold"/>
              </a:rPr>
              <a:t>Introduction </a:t>
            </a:r>
          </a:p>
          <a:p>
            <a:pPr marL="936072" lvl="1" indent="-468036" algn="l">
              <a:lnSpc>
                <a:spcPts val="6069"/>
              </a:lnSpc>
              <a:spcBef>
                <a:spcPct val="0"/>
              </a:spcBef>
              <a:buFont typeface="Arial"/>
              <a:buChar char="•"/>
            </a:pPr>
            <a:r>
              <a:rPr lang="en-US" sz="4335" b="1" u="none" strike="noStrike">
                <a:solidFill>
                  <a:srgbClr val="505050"/>
                </a:solidFill>
                <a:latin typeface="Roca One Bold"/>
                <a:ea typeface="Roca One Bold"/>
                <a:cs typeface="Roca One Bold"/>
                <a:sym typeface="Roca One Bold"/>
              </a:rPr>
              <a:t>Methodology</a:t>
            </a:r>
          </a:p>
          <a:p>
            <a:pPr marL="936072" lvl="1" indent="-468036" algn="l">
              <a:lnSpc>
                <a:spcPts val="6069"/>
              </a:lnSpc>
              <a:spcBef>
                <a:spcPct val="0"/>
              </a:spcBef>
              <a:buFont typeface="Arial"/>
              <a:buChar char="•"/>
            </a:pPr>
            <a:r>
              <a:rPr lang="en-US" sz="4335" b="1" u="none" strike="noStrike">
                <a:solidFill>
                  <a:srgbClr val="505050"/>
                </a:solidFill>
                <a:latin typeface="Roca One Bold"/>
                <a:ea typeface="Roca One Bold"/>
                <a:cs typeface="Roca One Bold"/>
                <a:sym typeface="Roca One Bold"/>
              </a:rPr>
              <a:t>Objectives of the Study</a:t>
            </a:r>
          </a:p>
          <a:p>
            <a:pPr marL="936072" lvl="1" indent="-468036" algn="l">
              <a:lnSpc>
                <a:spcPts val="6069"/>
              </a:lnSpc>
              <a:spcBef>
                <a:spcPct val="0"/>
              </a:spcBef>
              <a:buFont typeface="Arial"/>
              <a:buChar char="•"/>
            </a:pPr>
            <a:r>
              <a:rPr lang="en-US" sz="4335" b="1" u="none" strike="noStrike">
                <a:solidFill>
                  <a:srgbClr val="505050"/>
                </a:solidFill>
                <a:latin typeface="Roca One Bold"/>
                <a:ea typeface="Roca One Bold"/>
                <a:cs typeface="Roca One Bold"/>
                <a:sym typeface="Roca One Bold"/>
              </a:rPr>
              <a:t>Graphs And Conclusions </a:t>
            </a:r>
          </a:p>
          <a:p>
            <a:pPr marL="936072" lvl="1" indent="-468036" algn="l">
              <a:lnSpc>
                <a:spcPts val="6069"/>
              </a:lnSpc>
              <a:spcBef>
                <a:spcPct val="0"/>
              </a:spcBef>
              <a:buFont typeface="Arial"/>
              <a:buChar char="•"/>
            </a:pPr>
            <a:r>
              <a:rPr lang="en-US" sz="4335" b="1" u="none" strike="noStrike">
                <a:solidFill>
                  <a:srgbClr val="505050"/>
                </a:solidFill>
                <a:latin typeface="Roca One Bold"/>
                <a:ea typeface="Roca One Bold"/>
                <a:cs typeface="Roca One Bold"/>
                <a:sym typeface="Roca One Bold"/>
              </a:rPr>
              <a:t>Reference</a:t>
            </a:r>
          </a:p>
          <a:p>
            <a:pPr algn="l">
              <a:lnSpc>
                <a:spcPts val="6069"/>
              </a:lnSpc>
              <a:spcBef>
                <a:spcPct val="0"/>
              </a:spcBef>
            </a:pPr>
            <a:endParaRPr lang="en-US" sz="4335" b="1" u="none" strike="noStrike">
              <a:solidFill>
                <a:srgbClr val="505050"/>
              </a:solidFill>
              <a:latin typeface="Roca One Bold"/>
              <a:ea typeface="Roca One Bold"/>
              <a:cs typeface="Roca One Bold"/>
              <a:sym typeface="Roca One Bold"/>
            </a:endParaRPr>
          </a:p>
        </p:txBody>
      </p:sp>
      <p:grpSp>
        <p:nvGrpSpPr>
          <p:cNvPr id="5" name="Group 5"/>
          <p:cNvGrpSpPr/>
          <p:nvPr/>
        </p:nvGrpSpPr>
        <p:grpSpPr>
          <a:xfrm>
            <a:off x="11692564" y="1028700"/>
            <a:ext cx="5930415" cy="8058452"/>
            <a:chOff x="0" y="0"/>
            <a:chExt cx="959453" cy="1303738"/>
          </a:xfrm>
        </p:grpSpPr>
        <p:sp>
          <p:nvSpPr>
            <p:cNvPr id="6" name="Freeform 6"/>
            <p:cNvSpPr/>
            <p:nvPr/>
          </p:nvSpPr>
          <p:spPr>
            <a:xfrm>
              <a:off x="0" y="0"/>
              <a:ext cx="959453" cy="1303738"/>
            </a:xfrm>
            <a:custGeom>
              <a:avLst/>
              <a:gdLst/>
              <a:ahLst/>
              <a:cxnLst/>
              <a:rect l="l" t="t" r="r" b="b"/>
              <a:pathLst>
                <a:path w="959453" h="1303738">
                  <a:moveTo>
                    <a:pt x="0" y="0"/>
                  </a:moveTo>
                  <a:lnTo>
                    <a:pt x="959453" y="0"/>
                  </a:lnTo>
                  <a:lnTo>
                    <a:pt x="959453" y="1303738"/>
                  </a:lnTo>
                  <a:lnTo>
                    <a:pt x="0" y="1303738"/>
                  </a:lnTo>
                  <a:close/>
                </a:path>
              </a:pathLst>
            </a:custGeom>
            <a:blipFill>
              <a:blip r:embed="rId4"/>
              <a:stretch>
                <a:fillRect t="-14441" b="-14441"/>
              </a:stretch>
            </a:blipFill>
          </p:spPr>
          <p:txBody>
            <a:bodyPr/>
            <a:lstStyle/>
            <a:p>
              <a:endParaRPr lang="en-IN"/>
            </a:p>
          </p:txBody>
        </p:sp>
      </p:grpSp>
      <p:sp>
        <p:nvSpPr>
          <p:cNvPr id="7" name="TextBox 7"/>
          <p:cNvSpPr txBox="1"/>
          <p:nvPr/>
        </p:nvSpPr>
        <p:spPr>
          <a:xfrm>
            <a:off x="-673992" y="851390"/>
            <a:ext cx="10852274" cy="1450432"/>
          </a:xfrm>
          <a:prstGeom prst="rect">
            <a:avLst/>
          </a:prstGeom>
        </p:spPr>
        <p:txBody>
          <a:bodyPr lIns="0" tIns="0" rIns="0" bIns="0" rtlCol="0" anchor="t">
            <a:spAutoFit/>
          </a:bodyPr>
          <a:lstStyle/>
          <a:p>
            <a:pPr marL="0" lvl="0" indent="0" algn="ctr">
              <a:lnSpc>
                <a:spcPts val="11200"/>
              </a:lnSpc>
              <a:spcBef>
                <a:spcPct val="0"/>
              </a:spcBef>
            </a:pPr>
            <a:r>
              <a:rPr lang="en-US" sz="8000" u="none" strike="noStrike">
                <a:solidFill>
                  <a:srgbClr val="21575B"/>
                </a:solidFill>
                <a:latin typeface="Boston Angel"/>
                <a:ea typeface="Boston Angel"/>
                <a:cs typeface="Boston Angel"/>
                <a:sym typeface="Boston Angel"/>
              </a:rPr>
              <a:t>LIST OF 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TextBox 2"/>
          <p:cNvSpPr txBox="1"/>
          <p:nvPr/>
        </p:nvSpPr>
        <p:spPr>
          <a:xfrm>
            <a:off x="2393297" y="295544"/>
            <a:ext cx="13501406" cy="2238694"/>
          </a:xfrm>
          <a:prstGeom prst="rect">
            <a:avLst/>
          </a:prstGeom>
        </p:spPr>
        <p:txBody>
          <a:bodyPr lIns="0" tIns="0" rIns="0" bIns="0" rtlCol="0" anchor="t">
            <a:spAutoFit/>
          </a:bodyPr>
          <a:lstStyle/>
          <a:p>
            <a:pPr marL="0" lvl="0" indent="0" algn="ctr">
              <a:lnSpc>
                <a:spcPts val="17402"/>
              </a:lnSpc>
              <a:spcBef>
                <a:spcPct val="0"/>
              </a:spcBef>
            </a:pPr>
            <a:r>
              <a:rPr lang="en-US" sz="12430" u="none" strike="noStrike">
                <a:solidFill>
                  <a:srgbClr val="21575B"/>
                </a:solidFill>
                <a:latin typeface="Boston Angel"/>
                <a:ea typeface="Boston Angel"/>
                <a:cs typeface="Boston Angel"/>
                <a:sym typeface="Boston Angel"/>
              </a:rPr>
              <a:t>INTRODUCTION</a:t>
            </a:r>
          </a:p>
        </p:txBody>
      </p:sp>
      <p:sp>
        <p:nvSpPr>
          <p:cNvPr id="3" name="TextBox 3"/>
          <p:cNvSpPr txBox="1"/>
          <p:nvPr/>
        </p:nvSpPr>
        <p:spPr>
          <a:xfrm>
            <a:off x="514350" y="3226472"/>
            <a:ext cx="17259300" cy="5169615"/>
          </a:xfrm>
          <a:prstGeom prst="rect">
            <a:avLst/>
          </a:prstGeom>
        </p:spPr>
        <p:txBody>
          <a:bodyPr lIns="0" tIns="0" rIns="0" bIns="0" rtlCol="0" anchor="t">
            <a:spAutoFit/>
          </a:bodyPr>
          <a:lstStyle/>
          <a:p>
            <a:pPr marL="0" lvl="0" indent="0" algn="ctr">
              <a:lnSpc>
                <a:spcPts val="5919"/>
              </a:lnSpc>
              <a:spcBef>
                <a:spcPct val="0"/>
              </a:spcBef>
            </a:pPr>
            <a:r>
              <a:rPr lang="en-US" sz="4228" u="none" strike="noStrike">
                <a:solidFill>
                  <a:srgbClr val="505050"/>
                </a:solidFill>
                <a:latin typeface="Roca One"/>
                <a:ea typeface="Roca One"/>
                <a:cs typeface="Roca One"/>
                <a:sym typeface="Roca One"/>
              </a:rPr>
              <a:t>Marriage, a universal institution, shapes families, communities, and economies. While traditionally essential for social acceptance and lineage, it is now increasingly influenced by education, financial independence, culture, and societal expectations. Marriage choices often balance emotional compatibility with financial stability, impacting relationships, household management, family welfare, and gender roles.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6986038" y="2626744"/>
            <a:ext cx="4409688" cy="4959772"/>
          </a:xfrm>
          <a:custGeom>
            <a:avLst/>
            <a:gdLst/>
            <a:ahLst/>
            <a:cxnLst/>
            <a:rect l="l" t="t" r="r" b="b"/>
            <a:pathLst>
              <a:path w="4409688" h="4959772">
                <a:moveTo>
                  <a:pt x="0" y="0"/>
                </a:moveTo>
                <a:lnTo>
                  <a:pt x="4409688" y="0"/>
                </a:lnTo>
                <a:lnTo>
                  <a:pt x="4409688" y="4959772"/>
                </a:lnTo>
                <a:lnTo>
                  <a:pt x="0" y="49597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2129520" y="7586516"/>
            <a:ext cx="6158480" cy="2575364"/>
          </a:xfrm>
          <a:custGeom>
            <a:avLst/>
            <a:gdLst/>
            <a:ahLst/>
            <a:cxnLst/>
            <a:rect l="l" t="t" r="r" b="b"/>
            <a:pathLst>
              <a:path w="6158480" h="2575364">
                <a:moveTo>
                  <a:pt x="0" y="0"/>
                </a:moveTo>
                <a:lnTo>
                  <a:pt x="6158480" y="0"/>
                </a:lnTo>
                <a:lnTo>
                  <a:pt x="6158480" y="2575364"/>
                </a:lnTo>
                <a:lnTo>
                  <a:pt x="0" y="25753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4832287" y="440265"/>
            <a:ext cx="9878105" cy="1454190"/>
          </a:xfrm>
          <a:prstGeom prst="rect">
            <a:avLst/>
          </a:prstGeom>
        </p:spPr>
        <p:txBody>
          <a:bodyPr lIns="0" tIns="0" rIns="0" bIns="0" rtlCol="0" anchor="t">
            <a:spAutoFit/>
          </a:bodyPr>
          <a:lstStyle/>
          <a:p>
            <a:pPr algn="ctr">
              <a:lnSpc>
                <a:spcPts val="11200"/>
              </a:lnSpc>
              <a:spcBef>
                <a:spcPct val="0"/>
              </a:spcBef>
            </a:pPr>
            <a:r>
              <a:rPr lang="en-US" sz="8000">
                <a:solidFill>
                  <a:srgbClr val="21575B"/>
                </a:solidFill>
                <a:latin typeface="Boston Angel"/>
                <a:ea typeface="Boston Angel"/>
                <a:cs typeface="Boston Angel"/>
                <a:sym typeface="Boston Angel"/>
              </a:rPr>
              <a:t>PROJECT OBJECTIVES</a:t>
            </a:r>
          </a:p>
        </p:txBody>
      </p:sp>
      <p:sp>
        <p:nvSpPr>
          <p:cNvPr id="6" name="TextBox 6"/>
          <p:cNvSpPr txBox="1"/>
          <p:nvPr/>
        </p:nvSpPr>
        <p:spPr>
          <a:xfrm>
            <a:off x="1028700" y="7441523"/>
            <a:ext cx="5218899" cy="128910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505050"/>
                </a:solidFill>
                <a:latin typeface="Roca One"/>
                <a:ea typeface="Roca One"/>
                <a:cs typeface="Roca One"/>
                <a:sym typeface="Roca One"/>
              </a:rPr>
              <a:t>Study how financial independence and relationship status shift across life stages.</a:t>
            </a:r>
          </a:p>
        </p:txBody>
      </p:sp>
      <p:sp>
        <p:nvSpPr>
          <p:cNvPr id="7" name="TextBox 7"/>
          <p:cNvSpPr txBox="1"/>
          <p:nvPr/>
        </p:nvSpPr>
        <p:spPr>
          <a:xfrm>
            <a:off x="865308" y="6319454"/>
            <a:ext cx="5545684" cy="750594"/>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AGE &amp; INDEPENDENCE</a:t>
            </a:r>
          </a:p>
        </p:txBody>
      </p:sp>
      <p:sp>
        <p:nvSpPr>
          <p:cNvPr id="8" name="TextBox 8"/>
          <p:cNvSpPr txBox="1"/>
          <p:nvPr/>
        </p:nvSpPr>
        <p:spPr>
          <a:xfrm>
            <a:off x="11713616" y="7241498"/>
            <a:ext cx="5545684" cy="128910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505050"/>
                </a:solidFill>
                <a:latin typeface="Roca One"/>
                <a:ea typeface="Roca One"/>
                <a:cs typeface="Roca One"/>
                <a:sym typeface="Roca One"/>
              </a:rPr>
              <a:t>Evaluate the role of financial independence in marital stability, equality, and overall life choices.</a:t>
            </a:r>
          </a:p>
        </p:txBody>
      </p:sp>
      <p:sp>
        <p:nvSpPr>
          <p:cNvPr id="9" name="TextBox 9"/>
          <p:cNvSpPr txBox="1"/>
          <p:nvPr/>
        </p:nvSpPr>
        <p:spPr>
          <a:xfrm>
            <a:off x="11601650" y="6319454"/>
            <a:ext cx="5769617" cy="750594"/>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MARRIAGE &amp; STABILITY</a:t>
            </a:r>
          </a:p>
        </p:txBody>
      </p:sp>
      <p:sp>
        <p:nvSpPr>
          <p:cNvPr id="10" name="TextBox 10"/>
          <p:cNvSpPr txBox="1"/>
          <p:nvPr/>
        </p:nvSpPr>
        <p:spPr>
          <a:xfrm>
            <a:off x="6364109" y="2762133"/>
            <a:ext cx="5559781" cy="128910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505050"/>
                </a:solidFill>
                <a:latin typeface="Roca One"/>
                <a:ea typeface="Roca One"/>
                <a:cs typeface="Roca One"/>
                <a:sym typeface="Roca One"/>
              </a:rPr>
              <a:t>Assess preparedness, preferred family size, and factors influencing child-rearing decisions.</a:t>
            </a:r>
          </a:p>
        </p:txBody>
      </p:sp>
      <p:sp>
        <p:nvSpPr>
          <p:cNvPr id="11" name="TextBox 11"/>
          <p:cNvSpPr txBox="1"/>
          <p:nvPr/>
        </p:nvSpPr>
        <p:spPr>
          <a:xfrm>
            <a:off x="6621266" y="4146486"/>
            <a:ext cx="5139233" cy="750594"/>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FAMILY &amp; FINANCE</a:t>
            </a:r>
          </a:p>
        </p:txBody>
      </p:sp>
      <p:sp>
        <p:nvSpPr>
          <p:cNvPr id="12" name="AutoShape 12"/>
          <p:cNvSpPr/>
          <p:nvPr/>
        </p:nvSpPr>
        <p:spPr>
          <a:xfrm>
            <a:off x="3638149" y="5575361"/>
            <a:ext cx="10848309" cy="0"/>
          </a:xfrm>
          <a:prstGeom prst="line">
            <a:avLst/>
          </a:prstGeom>
          <a:ln w="38100" cap="flat">
            <a:solidFill>
              <a:srgbClr val="21575B"/>
            </a:solidFill>
            <a:prstDash val="solid"/>
            <a:headEnd type="none" w="sm" len="sm"/>
            <a:tailEnd type="none" w="sm" len="sm"/>
          </a:ln>
        </p:spPr>
        <p:txBody>
          <a:bodyPr/>
          <a:lstStyle/>
          <a:p>
            <a:endParaRPr lang="en-IN"/>
          </a:p>
        </p:txBody>
      </p:sp>
      <p:grpSp>
        <p:nvGrpSpPr>
          <p:cNvPr id="13" name="Group 13"/>
          <p:cNvGrpSpPr/>
          <p:nvPr/>
        </p:nvGrpSpPr>
        <p:grpSpPr>
          <a:xfrm>
            <a:off x="8703661" y="5106630"/>
            <a:ext cx="880679" cy="88067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2</a:t>
              </a:r>
            </a:p>
          </p:txBody>
        </p:sp>
      </p:grpSp>
      <p:grpSp>
        <p:nvGrpSpPr>
          <p:cNvPr id="16" name="Group 16"/>
          <p:cNvGrpSpPr/>
          <p:nvPr/>
        </p:nvGrpSpPr>
        <p:grpSpPr>
          <a:xfrm>
            <a:off x="3197810" y="5143500"/>
            <a:ext cx="880679" cy="88067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1</a:t>
              </a:r>
            </a:p>
          </p:txBody>
        </p:sp>
      </p:grpSp>
      <p:grpSp>
        <p:nvGrpSpPr>
          <p:cNvPr id="19" name="Group 19"/>
          <p:cNvGrpSpPr/>
          <p:nvPr/>
        </p:nvGrpSpPr>
        <p:grpSpPr>
          <a:xfrm>
            <a:off x="14046119" y="5106630"/>
            <a:ext cx="880679" cy="88067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3</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0"/>
            <a:ext cx="8109718" cy="3391337"/>
          </a:xfrm>
          <a:custGeom>
            <a:avLst/>
            <a:gdLst/>
            <a:ahLst/>
            <a:cxnLst/>
            <a:rect l="l" t="t" r="r" b="b"/>
            <a:pathLst>
              <a:path w="8109718" h="3391337">
                <a:moveTo>
                  <a:pt x="0" y="0"/>
                </a:moveTo>
                <a:lnTo>
                  <a:pt x="8109718" y="0"/>
                </a:lnTo>
                <a:lnTo>
                  <a:pt x="8109718" y="3391337"/>
                </a:lnTo>
                <a:lnTo>
                  <a:pt x="0" y="33913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2702355" y="185594"/>
            <a:ext cx="12883290" cy="1448086"/>
          </a:xfrm>
          <a:prstGeom prst="rect">
            <a:avLst/>
          </a:prstGeom>
        </p:spPr>
        <p:txBody>
          <a:bodyPr lIns="0" tIns="0" rIns="0" bIns="0" rtlCol="0" anchor="t">
            <a:spAutoFit/>
          </a:bodyPr>
          <a:lstStyle/>
          <a:p>
            <a:pPr marL="0" lvl="0" indent="0" algn="ctr">
              <a:lnSpc>
                <a:spcPts val="11200"/>
              </a:lnSpc>
              <a:spcBef>
                <a:spcPct val="0"/>
              </a:spcBef>
            </a:pPr>
            <a:r>
              <a:rPr lang="en-US" sz="8000" u="none" strike="noStrike">
                <a:solidFill>
                  <a:srgbClr val="21575B"/>
                </a:solidFill>
                <a:latin typeface="Boston Angel"/>
                <a:ea typeface="Boston Angel"/>
                <a:cs typeface="Boston Angel"/>
                <a:sym typeface="Boston Angel"/>
              </a:rPr>
              <a:t>METHODOLOGY</a:t>
            </a:r>
          </a:p>
        </p:txBody>
      </p:sp>
      <p:sp>
        <p:nvSpPr>
          <p:cNvPr id="4" name="TextBox 4"/>
          <p:cNvSpPr txBox="1"/>
          <p:nvPr/>
        </p:nvSpPr>
        <p:spPr>
          <a:xfrm>
            <a:off x="0" y="1955204"/>
            <a:ext cx="18288000" cy="8644395"/>
          </a:xfrm>
          <a:prstGeom prst="rect">
            <a:avLst/>
          </a:prstGeom>
        </p:spPr>
        <p:txBody>
          <a:bodyPr lIns="0" tIns="0" rIns="0" bIns="0" rtlCol="0" anchor="t">
            <a:spAutoFit/>
          </a:bodyPr>
          <a:lstStyle/>
          <a:p>
            <a:pPr marL="761784" lvl="1" indent="-380892" algn="l">
              <a:lnSpc>
                <a:spcPts val="4939"/>
              </a:lnSpc>
              <a:buFont typeface="Arial"/>
              <a:buChar char="•"/>
            </a:pPr>
            <a:r>
              <a:rPr lang="en-US" sz="3528" b="1">
                <a:solidFill>
                  <a:srgbClr val="505050"/>
                </a:solidFill>
                <a:latin typeface="Roca One Bold"/>
                <a:ea typeface="Roca One Bold"/>
                <a:cs typeface="Roca One Bold"/>
                <a:sym typeface="Roca One Bold"/>
              </a:rPr>
              <a:t>Research Design</a:t>
            </a:r>
            <a:r>
              <a:rPr lang="en-US" sz="3528">
                <a:solidFill>
                  <a:srgbClr val="505050"/>
                </a:solidFill>
                <a:latin typeface="Roca One"/>
                <a:ea typeface="Roca One"/>
                <a:cs typeface="Roca One"/>
                <a:sym typeface="Roca One"/>
              </a:rPr>
              <a:t> : Survey-based, Descriptive &amp; Analytical</a:t>
            </a:r>
          </a:p>
          <a:p>
            <a:pPr marL="761784" lvl="1" indent="-380892" algn="l">
              <a:lnSpc>
                <a:spcPts val="4939"/>
              </a:lnSpc>
              <a:buFont typeface="Arial"/>
              <a:buChar char="•"/>
            </a:pPr>
            <a:r>
              <a:rPr lang="en-US" sz="3528">
                <a:solidFill>
                  <a:srgbClr val="505050"/>
                </a:solidFill>
                <a:latin typeface="Roca One"/>
                <a:ea typeface="Roca One"/>
                <a:cs typeface="Roca One"/>
                <a:sym typeface="Roca One"/>
              </a:rPr>
              <a:t>Structured questionnaire to explore marriage choices &amp; socio-economic outcomes</a:t>
            </a:r>
          </a:p>
          <a:p>
            <a:pPr marL="761784" lvl="1" indent="-380892" algn="l">
              <a:lnSpc>
                <a:spcPts val="4939"/>
              </a:lnSpc>
              <a:buFont typeface="Arial"/>
              <a:buChar char="•"/>
            </a:pPr>
            <a:r>
              <a:rPr lang="en-US" sz="3528" b="1">
                <a:solidFill>
                  <a:srgbClr val="505050"/>
                </a:solidFill>
                <a:latin typeface="Roca One Bold"/>
                <a:ea typeface="Roca One Bold"/>
                <a:cs typeface="Roca One Bold"/>
                <a:sym typeface="Roca One Bold"/>
              </a:rPr>
              <a:t>Study Area</a:t>
            </a:r>
            <a:r>
              <a:rPr lang="en-US" sz="3528">
                <a:solidFill>
                  <a:srgbClr val="505050"/>
                </a:solidFill>
                <a:latin typeface="Roca One"/>
                <a:ea typeface="Roca One"/>
                <a:cs typeface="Roca One"/>
                <a:sym typeface="Roca One"/>
              </a:rPr>
              <a:t> : Online survey → broader reach across Urban &amp; Rural areas</a:t>
            </a:r>
          </a:p>
          <a:p>
            <a:pPr marL="761784" lvl="1" indent="-380892" algn="l">
              <a:lnSpc>
                <a:spcPts val="4939"/>
              </a:lnSpc>
              <a:buFont typeface="Arial"/>
              <a:buChar char="•"/>
            </a:pPr>
            <a:r>
              <a:rPr lang="en-US" sz="3528">
                <a:solidFill>
                  <a:srgbClr val="505050"/>
                </a:solidFill>
                <a:latin typeface="Roca One"/>
                <a:ea typeface="Roca One"/>
                <a:cs typeface="Roca One"/>
                <a:sym typeface="Roca One"/>
              </a:rPr>
              <a:t>Ensures diversity in cultural &amp; economic contexts</a:t>
            </a:r>
          </a:p>
          <a:p>
            <a:pPr marL="761784" lvl="1" indent="-380892" algn="l">
              <a:lnSpc>
                <a:spcPts val="4939"/>
              </a:lnSpc>
              <a:buFont typeface="Arial"/>
              <a:buChar char="•"/>
            </a:pPr>
            <a:r>
              <a:rPr lang="en-US" sz="3528">
                <a:solidFill>
                  <a:srgbClr val="505050"/>
                </a:solidFill>
                <a:latin typeface="Roca One"/>
                <a:ea typeface="Roca One"/>
                <a:cs typeface="Roca One"/>
                <a:sym typeface="Roca One"/>
              </a:rPr>
              <a:t>Sample Size &amp; Demographics (304 responses) :</a:t>
            </a:r>
          </a:p>
          <a:p>
            <a:pPr algn="l">
              <a:lnSpc>
                <a:spcPts val="4939"/>
              </a:lnSpc>
            </a:pPr>
            <a:r>
              <a:rPr lang="en-US" sz="3528">
                <a:solidFill>
                  <a:srgbClr val="505050"/>
                </a:solidFill>
                <a:latin typeface="Roca One"/>
                <a:ea typeface="Roca One"/>
                <a:cs typeface="Roca One"/>
                <a:sym typeface="Roca One"/>
              </a:rPr>
              <a:t>        </a:t>
            </a:r>
            <a:r>
              <a:rPr lang="en-US" sz="3528" b="1">
                <a:solidFill>
                  <a:srgbClr val="505050"/>
                </a:solidFill>
                <a:latin typeface="Roca One Bold"/>
                <a:ea typeface="Roca One Bold"/>
                <a:cs typeface="Roca One Bold"/>
                <a:sym typeface="Roca One Bold"/>
              </a:rPr>
              <a:t>Age</a:t>
            </a:r>
            <a:r>
              <a:rPr lang="en-US" sz="3528">
                <a:solidFill>
                  <a:srgbClr val="505050"/>
                </a:solidFill>
                <a:latin typeface="Roca One"/>
                <a:ea typeface="Roca One"/>
                <a:cs typeface="Roca One"/>
                <a:sym typeface="Roca One"/>
              </a:rPr>
              <a:t>: 18–60+ years</a:t>
            </a:r>
          </a:p>
          <a:p>
            <a:pPr algn="l">
              <a:lnSpc>
                <a:spcPts val="4939"/>
              </a:lnSpc>
            </a:pPr>
            <a:r>
              <a:rPr lang="en-US" sz="3528">
                <a:solidFill>
                  <a:srgbClr val="505050"/>
                </a:solidFill>
                <a:latin typeface="Roca One"/>
                <a:ea typeface="Roca One"/>
                <a:cs typeface="Roca One"/>
                <a:sym typeface="Roca One"/>
              </a:rPr>
              <a:t>        </a:t>
            </a:r>
            <a:r>
              <a:rPr lang="en-US" sz="3528" b="1">
                <a:solidFill>
                  <a:srgbClr val="505050"/>
                </a:solidFill>
                <a:latin typeface="Roca One Bold"/>
                <a:ea typeface="Roca One Bold"/>
                <a:cs typeface="Roca One Bold"/>
                <a:sym typeface="Roca One Bold"/>
              </a:rPr>
              <a:t>Gender</a:t>
            </a:r>
            <a:r>
              <a:rPr lang="en-US" sz="3528">
                <a:solidFill>
                  <a:srgbClr val="505050"/>
                </a:solidFill>
                <a:latin typeface="Roca One"/>
                <a:ea typeface="Roca One"/>
                <a:cs typeface="Roca One"/>
                <a:sym typeface="Roca One"/>
              </a:rPr>
              <a:t> : Male &amp; Female</a:t>
            </a:r>
          </a:p>
          <a:p>
            <a:pPr algn="l">
              <a:lnSpc>
                <a:spcPts val="4939"/>
              </a:lnSpc>
            </a:pPr>
            <a:r>
              <a:rPr lang="en-US" sz="3528">
                <a:solidFill>
                  <a:srgbClr val="505050"/>
                </a:solidFill>
                <a:latin typeface="Roca One"/>
                <a:ea typeface="Roca One"/>
                <a:cs typeface="Roca One"/>
                <a:sym typeface="Roca One"/>
              </a:rPr>
              <a:t>        </a:t>
            </a:r>
            <a:r>
              <a:rPr lang="en-US" sz="3528" b="1">
                <a:solidFill>
                  <a:srgbClr val="505050"/>
                </a:solidFill>
                <a:latin typeface="Roca One Bold"/>
                <a:ea typeface="Roca One Bold"/>
                <a:cs typeface="Roca One Bold"/>
                <a:sym typeface="Roca One Bold"/>
              </a:rPr>
              <a:t>Marital Status </a:t>
            </a:r>
            <a:r>
              <a:rPr lang="en-US" sz="3528">
                <a:solidFill>
                  <a:srgbClr val="505050"/>
                </a:solidFill>
                <a:latin typeface="Roca One"/>
                <a:ea typeface="Roca One"/>
                <a:cs typeface="Roca One"/>
                <a:sym typeface="Roca One"/>
              </a:rPr>
              <a:t>: Unmarried, Married, Divorced, Widowed</a:t>
            </a:r>
          </a:p>
          <a:p>
            <a:pPr algn="l">
              <a:lnSpc>
                <a:spcPts val="4939"/>
              </a:lnSpc>
            </a:pPr>
            <a:r>
              <a:rPr lang="en-US" sz="3528">
                <a:solidFill>
                  <a:srgbClr val="505050"/>
                </a:solidFill>
                <a:latin typeface="Roca One"/>
                <a:ea typeface="Roca One"/>
                <a:cs typeface="Roca One"/>
                <a:sym typeface="Roca One"/>
              </a:rPr>
              <a:t>        </a:t>
            </a:r>
            <a:r>
              <a:rPr lang="en-US" sz="3528" b="1">
                <a:solidFill>
                  <a:srgbClr val="505050"/>
                </a:solidFill>
                <a:latin typeface="Roca One Bold"/>
                <a:ea typeface="Roca One Bold"/>
                <a:cs typeface="Roca One Bold"/>
                <a:sym typeface="Roca One Bold"/>
              </a:rPr>
              <a:t>Residence </a:t>
            </a:r>
            <a:r>
              <a:rPr lang="en-US" sz="3528">
                <a:solidFill>
                  <a:srgbClr val="505050"/>
                </a:solidFill>
                <a:latin typeface="Roca One"/>
                <a:ea typeface="Roca One"/>
                <a:cs typeface="Roca One"/>
                <a:sym typeface="Roca One"/>
              </a:rPr>
              <a:t>: Urban &amp; Rural</a:t>
            </a:r>
          </a:p>
          <a:p>
            <a:pPr marL="761784" lvl="1" indent="-380892" algn="l">
              <a:lnSpc>
                <a:spcPts val="4939"/>
              </a:lnSpc>
              <a:buFont typeface="Arial"/>
              <a:buChar char="•"/>
            </a:pPr>
            <a:r>
              <a:rPr lang="en-US" sz="3528">
                <a:solidFill>
                  <a:srgbClr val="505050"/>
                </a:solidFill>
                <a:latin typeface="Roca One"/>
                <a:ea typeface="Roca One"/>
                <a:cs typeface="Roca One"/>
                <a:sym typeface="Roca One"/>
              </a:rPr>
              <a:t> 1) </a:t>
            </a:r>
            <a:r>
              <a:rPr lang="en-US" sz="3528" b="1">
                <a:solidFill>
                  <a:srgbClr val="505050"/>
                </a:solidFill>
                <a:latin typeface="Roca One Bold"/>
                <a:ea typeface="Roca One Bold"/>
                <a:cs typeface="Roca One Bold"/>
                <a:sym typeface="Roca One Bold"/>
              </a:rPr>
              <a:t>Data collection managed</a:t>
            </a:r>
            <a:r>
              <a:rPr lang="en-US" sz="3528">
                <a:solidFill>
                  <a:srgbClr val="505050"/>
                </a:solidFill>
                <a:latin typeface="Roca One"/>
                <a:ea typeface="Roca One"/>
                <a:cs typeface="Roca One"/>
                <a:sym typeface="Roca One"/>
              </a:rPr>
              <a:t> by Mugdha ,Vedika, Samruddhi , Aditi , Atharva</a:t>
            </a:r>
          </a:p>
          <a:p>
            <a:pPr algn="l">
              <a:lnSpc>
                <a:spcPts val="4939"/>
              </a:lnSpc>
            </a:pPr>
            <a:r>
              <a:rPr lang="en-US" sz="3528">
                <a:solidFill>
                  <a:srgbClr val="505050"/>
                </a:solidFill>
                <a:latin typeface="Roca One"/>
                <a:ea typeface="Roca One"/>
                <a:cs typeface="Roca One"/>
                <a:sym typeface="Roca One"/>
              </a:rPr>
              <a:t>         2)</a:t>
            </a:r>
            <a:r>
              <a:rPr lang="en-US" sz="3528" b="1">
                <a:solidFill>
                  <a:srgbClr val="505050"/>
                </a:solidFill>
                <a:latin typeface="Roca One Bold"/>
                <a:ea typeface="Roca One Bold"/>
                <a:cs typeface="Roca One Bold"/>
                <a:sym typeface="Roca One Bold"/>
              </a:rPr>
              <a:t> Data cleaning</a:t>
            </a:r>
            <a:r>
              <a:rPr lang="en-US" sz="3528">
                <a:solidFill>
                  <a:srgbClr val="505050"/>
                </a:solidFill>
                <a:latin typeface="Roca One"/>
                <a:ea typeface="Roca One"/>
                <a:cs typeface="Roca One"/>
                <a:sym typeface="Roca One"/>
              </a:rPr>
              <a:t> managed by Atharva</a:t>
            </a:r>
          </a:p>
          <a:p>
            <a:pPr marL="761784" lvl="1" indent="-380892" algn="l">
              <a:lnSpc>
                <a:spcPts val="4939"/>
              </a:lnSpc>
              <a:buFont typeface="Arial"/>
              <a:buChar char="•"/>
            </a:pPr>
            <a:r>
              <a:rPr lang="en-US" sz="3528" b="1">
                <a:solidFill>
                  <a:srgbClr val="505050"/>
                </a:solidFill>
                <a:latin typeface="Roca One Bold"/>
                <a:ea typeface="Roca One Bold"/>
                <a:cs typeface="Roca One Bold"/>
                <a:sym typeface="Roca One Bold"/>
              </a:rPr>
              <a:t>Ethical Considerations</a:t>
            </a:r>
            <a:r>
              <a:rPr lang="en-US" sz="3528">
                <a:solidFill>
                  <a:srgbClr val="505050"/>
                </a:solidFill>
                <a:latin typeface="Roca One"/>
                <a:ea typeface="Roca One"/>
                <a:cs typeface="Roca One"/>
                <a:sym typeface="Roca One"/>
              </a:rPr>
              <a:t> : All ensured responses remained Anonymous &amp; Confidential</a:t>
            </a:r>
          </a:p>
          <a:p>
            <a:pPr algn="l">
              <a:lnSpc>
                <a:spcPts val="4939"/>
              </a:lnSpc>
            </a:pPr>
            <a:endParaRPr lang="en-US" sz="3528">
              <a:solidFill>
                <a:srgbClr val="505050"/>
              </a:solidFill>
              <a:latin typeface="Roca One"/>
              <a:ea typeface="Roca One"/>
              <a:cs typeface="Roca One"/>
              <a:sym typeface="Roca O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44398" y="10028208"/>
            <a:ext cx="618852" cy="258792"/>
          </a:xfrm>
          <a:custGeom>
            <a:avLst/>
            <a:gdLst/>
            <a:ahLst/>
            <a:cxnLst/>
            <a:rect l="l" t="t" r="r" b="b"/>
            <a:pathLst>
              <a:path w="618852" h="258792">
                <a:moveTo>
                  <a:pt x="0" y="0"/>
                </a:moveTo>
                <a:lnTo>
                  <a:pt x="618851" y="0"/>
                </a:lnTo>
                <a:lnTo>
                  <a:pt x="618851" y="258792"/>
                </a:lnTo>
                <a:lnTo>
                  <a:pt x="0" y="2587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1429145" y="7418752"/>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0" y="1807287"/>
            <a:ext cx="18288000" cy="9216262"/>
          </a:xfrm>
          <a:prstGeom prst="rect">
            <a:avLst/>
          </a:prstGeom>
        </p:spPr>
        <p:txBody>
          <a:bodyPr lIns="0" tIns="0" rIns="0" bIns="0" rtlCol="0" anchor="t">
            <a:spAutoFit/>
          </a:bodyPr>
          <a:lstStyle/>
          <a:p>
            <a:pPr marL="665767" lvl="1" indent="-332883" algn="l">
              <a:lnSpc>
                <a:spcPts val="4317"/>
              </a:lnSpc>
              <a:buFont typeface="Arial"/>
              <a:buChar char="•"/>
            </a:pPr>
            <a:r>
              <a:rPr lang="en-US" sz="3083" b="1">
                <a:solidFill>
                  <a:srgbClr val="505050"/>
                </a:solidFill>
                <a:latin typeface="Roca One Bold"/>
                <a:ea typeface="Roca One Bold"/>
                <a:cs typeface="Roca One Bold"/>
                <a:sym typeface="Roca One Bold"/>
              </a:rPr>
              <a:t>Data Collection Tool: </a:t>
            </a:r>
            <a:r>
              <a:rPr lang="en-US" sz="3083">
                <a:solidFill>
                  <a:srgbClr val="505050"/>
                </a:solidFill>
                <a:latin typeface="Roca One"/>
                <a:ea typeface="Roca One"/>
                <a:cs typeface="Roca One"/>
                <a:sym typeface="Roca One"/>
              </a:rPr>
              <a:t>Google Form Questionnaire</a:t>
            </a:r>
          </a:p>
          <a:p>
            <a:pPr marL="665767" lvl="1" indent="-332883" algn="l">
              <a:lnSpc>
                <a:spcPts val="4317"/>
              </a:lnSpc>
              <a:buFont typeface="Arial"/>
              <a:buChar char="•"/>
            </a:pPr>
            <a:r>
              <a:rPr lang="en-US" sz="3083" b="1">
                <a:solidFill>
                  <a:srgbClr val="505050"/>
                </a:solidFill>
                <a:latin typeface="Roca One Bold"/>
                <a:ea typeface="Roca One Bold"/>
                <a:cs typeface="Roca One Bold"/>
                <a:sym typeface="Roca One Bold"/>
              </a:rPr>
              <a:t>Steps We Conducted :</a:t>
            </a:r>
          </a:p>
          <a:p>
            <a:pPr marL="665767" lvl="1" indent="-332883" algn="l">
              <a:lnSpc>
                <a:spcPts val="4317"/>
              </a:lnSpc>
              <a:buAutoNum type="arabicPeriod"/>
            </a:pPr>
            <a:r>
              <a:rPr lang="en-US" sz="3083">
                <a:solidFill>
                  <a:srgbClr val="505050"/>
                </a:solidFill>
                <a:latin typeface="Roca One"/>
                <a:ea typeface="Roca One"/>
                <a:cs typeface="Roca One"/>
                <a:sym typeface="Roca One"/>
              </a:rPr>
              <a:t>Topic Selection</a:t>
            </a:r>
          </a:p>
          <a:p>
            <a:pPr marL="665767" lvl="1" indent="-332883" algn="l">
              <a:lnSpc>
                <a:spcPts val="4317"/>
              </a:lnSpc>
              <a:buAutoNum type="arabicPeriod"/>
            </a:pPr>
            <a:r>
              <a:rPr lang="en-US" sz="3083">
                <a:solidFill>
                  <a:srgbClr val="505050"/>
                </a:solidFill>
                <a:latin typeface="Roca One"/>
                <a:ea typeface="Roca One"/>
                <a:cs typeface="Roca One"/>
                <a:sym typeface="Roca One"/>
              </a:rPr>
              <a:t> Data collection And Cleaning</a:t>
            </a:r>
          </a:p>
          <a:p>
            <a:pPr marL="665767" lvl="1" indent="-332883" algn="l">
              <a:lnSpc>
                <a:spcPts val="4317"/>
              </a:lnSpc>
              <a:buAutoNum type="arabicPeriod"/>
            </a:pPr>
            <a:r>
              <a:rPr lang="en-US" sz="3083">
                <a:solidFill>
                  <a:srgbClr val="505050"/>
                </a:solidFill>
                <a:latin typeface="Roca One"/>
                <a:ea typeface="Roca One"/>
                <a:cs typeface="Roca One"/>
                <a:sym typeface="Roca One"/>
              </a:rPr>
              <a:t> Data Analytics (Demographic , Basic Statistics , Using Software’s)</a:t>
            </a:r>
          </a:p>
          <a:p>
            <a:pPr marL="665767" lvl="1" indent="-332883" algn="l">
              <a:lnSpc>
                <a:spcPts val="4317"/>
              </a:lnSpc>
              <a:buAutoNum type="arabicPeriod"/>
            </a:pPr>
            <a:r>
              <a:rPr lang="en-US" sz="3083">
                <a:solidFill>
                  <a:srgbClr val="505050"/>
                </a:solidFill>
                <a:latin typeface="Roca One"/>
                <a:ea typeface="Roca One"/>
                <a:cs typeface="Roca One"/>
                <a:sym typeface="Roca One"/>
              </a:rPr>
              <a:t>Visualization Of Results </a:t>
            </a:r>
          </a:p>
          <a:p>
            <a:pPr marL="665767" lvl="1" indent="-332883" algn="l">
              <a:lnSpc>
                <a:spcPts val="4317"/>
              </a:lnSpc>
              <a:buAutoNum type="arabicPeriod"/>
            </a:pPr>
            <a:r>
              <a:rPr lang="en-US" sz="3083">
                <a:solidFill>
                  <a:srgbClr val="505050"/>
                </a:solidFill>
                <a:latin typeface="Roca One"/>
                <a:ea typeface="Roca One"/>
                <a:cs typeface="Roca One"/>
                <a:sym typeface="Roca One"/>
              </a:rPr>
              <a:t>Interpretation And Conclusions</a:t>
            </a:r>
          </a:p>
          <a:p>
            <a:pPr marL="665767" lvl="1" indent="-332883" algn="l">
              <a:lnSpc>
                <a:spcPts val="4317"/>
              </a:lnSpc>
              <a:buAutoNum type="arabicPeriod"/>
            </a:pPr>
            <a:r>
              <a:rPr lang="en-US" sz="3083">
                <a:solidFill>
                  <a:srgbClr val="505050"/>
                </a:solidFill>
                <a:latin typeface="Roca One"/>
                <a:ea typeface="Roca One"/>
                <a:cs typeface="Roca One"/>
                <a:sym typeface="Roca One"/>
              </a:rPr>
              <a:t>Report Writing (Everyone)</a:t>
            </a:r>
          </a:p>
          <a:p>
            <a:pPr marL="665767" lvl="1" indent="-332883" algn="l">
              <a:lnSpc>
                <a:spcPts val="4317"/>
              </a:lnSpc>
              <a:buAutoNum type="arabicPeriod"/>
            </a:pPr>
            <a:r>
              <a:rPr lang="en-US" sz="3083">
                <a:solidFill>
                  <a:srgbClr val="505050"/>
                </a:solidFill>
                <a:latin typeface="Roca One"/>
                <a:ea typeface="Roca One"/>
                <a:cs typeface="Roca One"/>
                <a:sym typeface="Roca One"/>
              </a:rPr>
              <a:t>PPT making : Aditi ,Vedika, Atharva , Mugdha</a:t>
            </a:r>
          </a:p>
          <a:p>
            <a:pPr marL="665767" lvl="1" indent="-332883" algn="l">
              <a:lnSpc>
                <a:spcPts val="4317"/>
              </a:lnSpc>
              <a:buFont typeface="Arial"/>
              <a:buChar char="•"/>
            </a:pPr>
            <a:r>
              <a:rPr lang="en-US" sz="3083" b="1">
                <a:solidFill>
                  <a:srgbClr val="505050"/>
                </a:solidFill>
                <a:latin typeface="Roca One Bold"/>
                <a:ea typeface="Roca One Bold"/>
                <a:cs typeface="Roca One Bold"/>
                <a:sym typeface="Roca One Bold"/>
              </a:rPr>
              <a:t>Software Used:</a:t>
            </a:r>
          </a:p>
          <a:p>
            <a:pPr algn="l">
              <a:lnSpc>
                <a:spcPts val="4317"/>
              </a:lnSpc>
            </a:pPr>
            <a:r>
              <a:rPr lang="en-US" sz="3083">
                <a:solidFill>
                  <a:srgbClr val="505050"/>
                </a:solidFill>
                <a:latin typeface="Roca One"/>
                <a:ea typeface="Roca One"/>
                <a:cs typeface="Roca One"/>
                <a:sym typeface="Roca One"/>
              </a:rPr>
              <a:t> 1. R Software (10 graphs) : Samruddhi &amp; Mugdha</a:t>
            </a:r>
          </a:p>
          <a:p>
            <a:pPr algn="l">
              <a:lnSpc>
                <a:spcPts val="4317"/>
              </a:lnSpc>
            </a:pPr>
            <a:r>
              <a:rPr lang="en-US" sz="3083">
                <a:solidFill>
                  <a:srgbClr val="505050"/>
                </a:solidFill>
                <a:latin typeface="Roca One"/>
                <a:ea typeface="Roca One"/>
                <a:cs typeface="Roca One"/>
                <a:sym typeface="Roca One"/>
              </a:rPr>
              <a:t> 2. Python (5 graphs) : Atharva</a:t>
            </a:r>
          </a:p>
          <a:p>
            <a:pPr algn="l">
              <a:lnSpc>
                <a:spcPts val="4317"/>
              </a:lnSpc>
            </a:pPr>
            <a:r>
              <a:rPr lang="en-US" sz="3083">
                <a:solidFill>
                  <a:srgbClr val="505050"/>
                </a:solidFill>
                <a:latin typeface="Roca One"/>
                <a:ea typeface="Roca One"/>
                <a:cs typeface="Roca One"/>
                <a:sym typeface="Roca One"/>
              </a:rPr>
              <a:t> 3. MS Excel (10 graphs) : Aditi &amp; Vedika</a:t>
            </a:r>
          </a:p>
          <a:p>
            <a:pPr algn="l">
              <a:lnSpc>
                <a:spcPts val="4317"/>
              </a:lnSpc>
            </a:pPr>
            <a:r>
              <a:rPr lang="en-US" sz="3083">
                <a:solidFill>
                  <a:srgbClr val="505050"/>
                </a:solidFill>
                <a:latin typeface="Roca One"/>
                <a:ea typeface="Roca One"/>
                <a:cs typeface="Roca One"/>
                <a:sym typeface="Roca One"/>
              </a:rPr>
              <a:t> 4. MS-word (Report writing) : Everyone</a:t>
            </a:r>
          </a:p>
          <a:p>
            <a:pPr algn="l">
              <a:lnSpc>
                <a:spcPts val="4317"/>
              </a:lnSpc>
            </a:pPr>
            <a:r>
              <a:rPr lang="en-US" sz="3083">
                <a:solidFill>
                  <a:srgbClr val="505050"/>
                </a:solidFill>
                <a:latin typeface="Roca One"/>
                <a:ea typeface="Roca One"/>
                <a:cs typeface="Roca One"/>
                <a:sym typeface="Roca One"/>
              </a:rPr>
              <a:t> 5. Canva</a:t>
            </a:r>
          </a:p>
          <a:p>
            <a:pPr algn="l">
              <a:lnSpc>
                <a:spcPts val="4317"/>
              </a:lnSpc>
            </a:pPr>
            <a:endParaRPr lang="en-US" sz="3083">
              <a:solidFill>
                <a:srgbClr val="505050"/>
              </a:solidFill>
              <a:latin typeface="Roca One"/>
              <a:ea typeface="Roca One"/>
              <a:cs typeface="Roca One"/>
              <a:sym typeface="Roca One"/>
            </a:endParaRPr>
          </a:p>
          <a:p>
            <a:pPr algn="l">
              <a:lnSpc>
                <a:spcPts val="4317"/>
              </a:lnSpc>
            </a:pPr>
            <a:endParaRPr lang="en-US" sz="3083">
              <a:solidFill>
                <a:srgbClr val="505050"/>
              </a:solidFill>
              <a:latin typeface="Roca One"/>
              <a:ea typeface="Roca One"/>
              <a:cs typeface="Roca One"/>
              <a:sym typeface="Roca One"/>
            </a:endParaRPr>
          </a:p>
        </p:txBody>
      </p:sp>
      <p:sp>
        <p:nvSpPr>
          <p:cNvPr id="5" name="TextBox 5"/>
          <p:cNvSpPr txBox="1"/>
          <p:nvPr/>
        </p:nvSpPr>
        <p:spPr>
          <a:xfrm>
            <a:off x="4869647" y="-71903"/>
            <a:ext cx="7794300" cy="3220566"/>
          </a:xfrm>
          <a:prstGeom prst="rect">
            <a:avLst/>
          </a:prstGeom>
        </p:spPr>
        <p:txBody>
          <a:bodyPr lIns="0" tIns="0" rIns="0" bIns="0" rtlCol="0" anchor="t">
            <a:spAutoFit/>
          </a:bodyPr>
          <a:lstStyle/>
          <a:p>
            <a:pPr marL="0" lvl="0" indent="0" algn="ctr">
              <a:lnSpc>
                <a:spcPts val="12594"/>
              </a:lnSpc>
              <a:spcBef>
                <a:spcPct val="0"/>
              </a:spcBef>
            </a:pPr>
            <a:r>
              <a:rPr lang="en-US" sz="8996" u="none" strike="noStrike">
                <a:solidFill>
                  <a:srgbClr val="21575B"/>
                </a:solidFill>
                <a:latin typeface="Boston Angel"/>
                <a:ea typeface="Boston Angel"/>
                <a:cs typeface="Boston Angel"/>
                <a:sym typeface="Boston Angel"/>
              </a:rPr>
              <a:t>METHODOLOGY</a:t>
            </a:r>
          </a:p>
          <a:p>
            <a:pPr marL="0" lvl="0" indent="0" algn="ctr">
              <a:lnSpc>
                <a:spcPts val="12594"/>
              </a:lnSpc>
              <a:spcBef>
                <a:spcPct val="0"/>
              </a:spcBef>
            </a:pPr>
            <a:endParaRPr lang="en-US" sz="8996" u="none" strike="noStrike">
              <a:solidFill>
                <a:srgbClr val="21575B"/>
              </a:solidFill>
              <a:latin typeface="Boston Angel"/>
              <a:ea typeface="Boston Angel"/>
              <a:cs typeface="Boston Angel"/>
              <a:sym typeface="Boston Angel"/>
            </a:endParaRPr>
          </a:p>
        </p:txBody>
      </p:sp>
      <p:sp>
        <p:nvSpPr>
          <p:cNvPr id="6" name="Freeform 6"/>
          <p:cNvSpPr/>
          <p:nvPr/>
        </p:nvSpPr>
        <p:spPr>
          <a:xfrm>
            <a:off x="15020744" y="0"/>
            <a:ext cx="3267256" cy="3333935"/>
          </a:xfrm>
          <a:custGeom>
            <a:avLst/>
            <a:gdLst/>
            <a:ahLst/>
            <a:cxnLst/>
            <a:rect l="l" t="t" r="r" b="b"/>
            <a:pathLst>
              <a:path w="3267256" h="3333935">
                <a:moveTo>
                  <a:pt x="0" y="0"/>
                </a:moveTo>
                <a:lnTo>
                  <a:pt x="3267256" y="0"/>
                </a:lnTo>
                <a:lnTo>
                  <a:pt x="3267256" y="3333935"/>
                </a:lnTo>
                <a:lnTo>
                  <a:pt x="0" y="3333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0"/>
            <a:ext cx="8298050" cy="3470094"/>
          </a:xfrm>
          <a:custGeom>
            <a:avLst/>
            <a:gdLst/>
            <a:ahLst/>
            <a:cxnLst/>
            <a:rect l="l" t="t" r="r" b="b"/>
            <a:pathLst>
              <a:path w="8298050" h="3470094">
                <a:moveTo>
                  <a:pt x="0" y="0"/>
                </a:moveTo>
                <a:lnTo>
                  <a:pt x="8298050" y="0"/>
                </a:lnTo>
                <a:lnTo>
                  <a:pt x="8298050" y="3470094"/>
                </a:lnTo>
                <a:lnTo>
                  <a:pt x="0" y="3470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rot="-5400000">
            <a:off x="-1029439" y="7198684"/>
            <a:ext cx="4117755" cy="2058877"/>
          </a:xfrm>
          <a:custGeom>
            <a:avLst/>
            <a:gdLst/>
            <a:ahLst/>
            <a:cxnLst/>
            <a:rect l="l" t="t" r="r" b="b"/>
            <a:pathLst>
              <a:path w="4117755" h="2058877">
                <a:moveTo>
                  <a:pt x="0" y="0"/>
                </a:moveTo>
                <a:lnTo>
                  <a:pt x="4117755" y="0"/>
                </a:lnTo>
                <a:lnTo>
                  <a:pt x="4117755" y="2058877"/>
                </a:lnTo>
                <a:lnTo>
                  <a:pt x="0" y="2058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844209" y="4019757"/>
            <a:ext cx="9443791" cy="6267243"/>
          </a:xfrm>
          <a:custGeom>
            <a:avLst/>
            <a:gdLst/>
            <a:ahLst/>
            <a:cxnLst/>
            <a:rect l="l" t="t" r="r" b="b"/>
            <a:pathLst>
              <a:path w="9443791" h="6267243">
                <a:moveTo>
                  <a:pt x="0" y="0"/>
                </a:moveTo>
                <a:lnTo>
                  <a:pt x="9443791" y="0"/>
                </a:lnTo>
                <a:lnTo>
                  <a:pt x="9443791" y="6267243"/>
                </a:lnTo>
                <a:lnTo>
                  <a:pt x="0" y="6267243"/>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417782" y="1133475"/>
            <a:ext cx="15760537" cy="1537364"/>
          </a:xfrm>
          <a:prstGeom prst="rect">
            <a:avLst/>
          </a:prstGeom>
        </p:spPr>
        <p:txBody>
          <a:bodyPr lIns="0" tIns="0" rIns="0" bIns="0" rtlCol="0" anchor="t">
            <a:spAutoFit/>
          </a:bodyPr>
          <a:lstStyle/>
          <a:p>
            <a:pPr algn="ctr">
              <a:lnSpc>
                <a:spcPts val="11882"/>
              </a:lnSpc>
            </a:pPr>
            <a:r>
              <a:rPr lang="en-US" sz="10802" b="1">
                <a:solidFill>
                  <a:srgbClr val="21575B"/>
                </a:solidFill>
                <a:latin typeface="Roca One Bold"/>
                <a:ea typeface="Roca One Bold"/>
                <a:cs typeface="Roca One Bold"/>
                <a:sym typeface="Roca One Bold"/>
              </a:rPr>
              <a:t>Graphs And Conclusion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7432293"/>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284652" y="1028700"/>
            <a:ext cx="7535467" cy="8229600"/>
          </a:xfrm>
          <a:custGeom>
            <a:avLst/>
            <a:gdLst/>
            <a:ahLst/>
            <a:cxnLst/>
            <a:rect l="l" t="t" r="r" b="b"/>
            <a:pathLst>
              <a:path w="7535467" h="8229600">
                <a:moveTo>
                  <a:pt x="0" y="0"/>
                </a:moveTo>
                <a:lnTo>
                  <a:pt x="7535467" y="0"/>
                </a:lnTo>
                <a:lnTo>
                  <a:pt x="7535467" y="8229600"/>
                </a:lnTo>
                <a:lnTo>
                  <a:pt x="0" y="8229600"/>
                </a:lnTo>
                <a:lnTo>
                  <a:pt x="0" y="0"/>
                </a:lnTo>
                <a:close/>
              </a:path>
            </a:pathLst>
          </a:custGeom>
          <a:blipFill>
            <a:blip r:embed="rId4"/>
            <a:stretch>
              <a:fillRect r="-3871"/>
            </a:stretch>
          </a:blipFill>
        </p:spPr>
        <p:txBody>
          <a:bodyPr/>
          <a:lstStyle/>
          <a:p>
            <a:endParaRPr lang="en-IN"/>
          </a:p>
        </p:txBody>
      </p:sp>
      <p:sp>
        <p:nvSpPr>
          <p:cNvPr id="4" name="TextBox 4"/>
          <p:cNvSpPr txBox="1"/>
          <p:nvPr/>
        </p:nvSpPr>
        <p:spPr>
          <a:xfrm>
            <a:off x="8455660" y="5086350"/>
            <a:ext cx="9399455" cy="3780067"/>
          </a:xfrm>
          <a:prstGeom prst="rect">
            <a:avLst/>
          </a:prstGeom>
        </p:spPr>
        <p:txBody>
          <a:bodyPr lIns="0" tIns="0" rIns="0" bIns="0" rtlCol="0" anchor="t">
            <a:spAutoFit/>
          </a:bodyPr>
          <a:lstStyle/>
          <a:p>
            <a:pPr algn="just">
              <a:lnSpc>
                <a:spcPts val="4277"/>
              </a:lnSpc>
              <a:spcBef>
                <a:spcPct val="0"/>
              </a:spcBef>
            </a:pPr>
            <a:r>
              <a:rPr lang="en-US" sz="3055">
                <a:solidFill>
                  <a:srgbClr val="505050"/>
                </a:solidFill>
                <a:latin typeface="Roca One"/>
                <a:ea typeface="Roca One"/>
                <a:cs typeface="Roca One"/>
                <a:sym typeface="Roca One"/>
              </a:rPr>
              <a:t>The gender distribution of the respondents shows that 58.6% (178) are female and 41.4% (126) are male, giving a Male-to-Female Ratio of approximately (0.71 : 1) . This indicates that the sample is slightly female dominated, which may influence the overall interpretation of marriage choice patterns in the study.</a:t>
            </a:r>
          </a:p>
        </p:txBody>
      </p:sp>
      <p:sp>
        <p:nvSpPr>
          <p:cNvPr id="5" name="Freeform 5"/>
          <p:cNvSpPr/>
          <p:nvPr/>
        </p:nvSpPr>
        <p:spPr>
          <a:xfrm>
            <a:off x="11429145"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9456060" y="1441930"/>
            <a:ext cx="7398655" cy="2151275"/>
          </a:xfrm>
          <a:prstGeom prst="rect">
            <a:avLst/>
          </a:prstGeom>
        </p:spPr>
        <p:txBody>
          <a:bodyPr lIns="0" tIns="0" rIns="0" bIns="0" rtlCol="0" anchor="t">
            <a:spAutoFit/>
          </a:bodyPr>
          <a:lstStyle/>
          <a:p>
            <a:pPr marL="0" lvl="0" indent="0" algn="ctr">
              <a:lnSpc>
                <a:spcPts val="4277"/>
              </a:lnSpc>
              <a:spcBef>
                <a:spcPct val="0"/>
              </a:spcBef>
            </a:pPr>
            <a:r>
              <a:rPr lang="en-US" sz="3055" b="1" u="none" strike="noStrike">
                <a:solidFill>
                  <a:srgbClr val="505050"/>
                </a:solidFill>
                <a:latin typeface="Roca One Bold"/>
                <a:ea typeface="Roca One Bold"/>
                <a:cs typeface="Roca One Bold"/>
                <a:sym typeface="Roca One Bold"/>
              </a:rPr>
              <a:t>Male to Female ratio:</a:t>
            </a:r>
          </a:p>
          <a:p>
            <a:pPr marL="0" lvl="0" indent="0" algn="ctr">
              <a:lnSpc>
                <a:spcPts val="4277"/>
              </a:lnSpc>
              <a:spcBef>
                <a:spcPct val="0"/>
              </a:spcBef>
            </a:pPr>
            <a:r>
              <a:rPr lang="en-US" sz="3055" b="1" u="none" strike="noStrike">
                <a:solidFill>
                  <a:srgbClr val="505050"/>
                </a:solidFill>
                <a:latin typeface="Roca One Bold"/>
                <a:ea typeface="Roca One Bold"/>
                <a:cs typeface="Roca One Bold"/>
                <a:sym typeface="Roca One Bold"/>
              </a:rPr>
              <a:t> Female = 58.6% (178) ; Male = 41.4% (126)</a:t>
            </a:r>
          </a:p>
          <a:p>
            <a:pPr marL="0" lvl="0" indent="0" algn="ctr">
              <a:lnSpc>
                <a:spcPts val="4277"/>
              </a:lnSpc>
              <a:spcBef>
                <a:spcPct val="0"/>
              </a:spcBef>
            </a:pPr>
            <a:r>
              <a:rPr lang="en-US" sz="3055" b="1" u="none" strike="noStrike">
                <a:solidFill>
                  <a:srgbClr val="505050"/>
                </a:solidFill>
                <a:latin typeface="Roca One Bold"/>
                <a:ea typeface="Roca One Bold"/>
                <a:cs typeface="Roca One Bold"/>
                <a:sym typeface="Roca One Bold"/>
              </a:rPr>
              <a:t> Male: Female = (41.4 : 58.6) = 0.71 : 1</a:t>
            </a:r>
          </a:p>
          <a:p>
            <a:pPr marL="0" lvl="0" indent="0" algn="ctr">
              <a:lnSpc>
                <a:spcPts val="4277"/>
              </a:lnSpc>
              <a:spcBef>
                <a:spcPct val="0"/>
              </a:spcBef>
            </a:pPr>
            <a:endParaRPr lang="en-US" sz="3055" b="1" u="none" strike="noStrike">
              <a:solidFill>
                <a:srgbClr val="505050"/>
              </a:solidFill>
              <a:latin typeface="Roca One Bold"/>
              <a:ea typeface="Roca One Bold"/>
              <a:cs typeface="Roca One Bold"/>
              <a:sym typeface="Roca One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1365202"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493371" y="1028700"/>
            <a:ext cx="11301259" cy="6159186"/>
          </a:xfrm>
          <a:custGeom>
            <a:avLst/>
            <a:gdLst/>
            <a:ahLst/>
            <a:cxnLst/>
            <a:rect l="l" t="t" r="r" b="b"/>
            <a:pathLst>
              <a:path w="11301259" h="6159186">
                <a:moveTo>
                  <a:pt x="0" y="0"/>
                </a:moveTo>
                <a:lnTo>
                  <a:pt x="11301258" y="0"/>
                </a:lnTo>
                <a:lnTo>
                  <a:pt x="11301258" y="6159186"/>
                </a:lnTo>
                <a:lnTo>
                  <a:pt x="0" y="6159186"/>
                </a:lnTo>
                <a:lnTo>
                  <a:pt x="0" y="0"/>
                </a:lnTo>
                <a:close/>
              </a:path>
            </a:pathLst>
          </a:custGeom>
          <a:blipFill>
            <a:blip r:embed="rId4"/>
            <a:stretch>
              <a:fillRect/>
            </a:stretch>
          </a:blipFill>
        </p:spPr>
        <p:txBody>
          <a:bodyPr/>
          <a:lstStyle/>
          <a:p>
            <a:endParaRPr lang="en-IN"/>
          </a:p>
        </p:txBody>
      </p:sp>
      <p:sp>
        <p:nvSpPr>
          <p:cNvPr id="4" name="Freeform 4"/>
          <p:cNvSpPr/>
          <p:nvPr/>
        </p:nvSpPr>
        <p:spPr>
          <a:xfrm>
            <a:off x="0" y="7418752"/>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529935" y="7769520"/>
            <a:ext cx="17228131" cy="2151275"/>
          </a:xfrm>
          <a:prstGeom prst="rect">
            <a:avLst/>
          </a:prstGeom>
        </p:spPr>
        <p:txBody>
          <a:bodyPr lIns="0" tIns="0" rIns="0" bIns="0" rtlCol="0" anchor="t">
            <a:spAutoFit/>
          </a:bodyPr>
          <a:lstStyle/>
          <a:p>
            <a:pPr algn="ctr">
              <a:lnSpc>
                <a:spcPts val="4277"/>
              </a:lnSpc>
              <a:spcBef>
                <a:spcPct val="0"/>
              </a:spcBef>
            </a:pPr>
            <a:r>
              <a:rPr lang="en-US" sz="3055">
                <a:solidFill>
                  <a:srgbClr val="505050"/>
                </a:solidFill>
                <a:latin typeface="Roca One"/>
                <a:ea typeface="Roca One"/>
                <a:cs typeface="Roca One"/>
                <a:sym typeface="Roca One"/>
              </a:rPr>
              <a:t>The majority (nearly half) are in favor of legal prenuptial agreements, indicating a growing acceptance of securing financial/legal clarity before marriage. However, a significant proportion (34.5%) remain unsure, reflecting hesitation or lack of awareness about the        concept. Only a smaller share (18.4%) outright reject the idea.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1429145"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79845" y="1028700"/>
            <a:ext cx="11128311" cy="6323913"/>
          </a:xfrm>
          <a:custGeom>
            <a:avLst/>
            <a:gdLst/>
            <a:ahLst/>
            <a:cxnLst/>
            <a:rect l="l" t="t" r="r" b="b"/>
            <a:pathLst>
              <a:path w="11128311" h="6323913">
                <a:moveTo>
                  <a:pt x="0" y="0"/>
                </a:moveTo>
                <a:lnTo>
                  <a:pt x="11128310" y="0"/>
                </a:lnTo>
                <a:lnTo>
                  <a:pt x="11128310" y="6323913"/>
                </a:lnTo>
                <a:lnTo>
                  <a:pt x="0" y="6323913"/>
                </a:lnTo>
                <a:lnTo>
                  <a:pt x="0" y="0"/>
                </a:lnTo>
                <a:close/>
              </a:path>
            </a:pathLst>
          </a:custGeom>
          <a:blipFill>
            <a:blip r:embed="rId4"/>
            <a:stretch>
              <a:fillRect l="-11699"/>
            </a:stretch>
          </a:blipFill>
        </p:spPr>
        <p:txBody>
          <a:bodyPr/>
          <a:lstStyle/>
          <a:p>
            <a:endParaRPr lang="en-IN"/>
          </a:p>
        </p:txBody>
      </p:sp>
      <p:sp>
        <p:nvSpPr>
          <p:cNvPr id="4" name="Freeform 4"/>
          <p:cNvSpPr/>
          <p:nvPr/>
        </p:nvSpPr>
        <p:spPr>
          <a:xfrm>
            <a:off x="19050" y="7418752"/>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1028700" y="7659398"/>
            <a:ext cx="16230600" cy="2151275"/>
          </a:xfrm>
          <a:prstGeom prst="rect">
            <a:avLst/>
          </a:prstGeom>
        </p:spPr>
        <p:txBody>
          <a:bodyPr lIns="0" tIns="0" rIns="0" bIns="0" rtlCol="0" anchor="t">
            <a:spAutoFit/>
          </a:bodyPr>
          <a:lstStyle/>
          <a:p>
            <a:pPr algn="ctr">
              <a:lnSpc>
                <a:spcPts val="4277"/>
              </a:lnSpc>
              <a:spcBef>
                <a:spcPct val="0"/>
              </a:spcBef>
            </a:pPr>
            <a:r>
              <a:rPr lang="en-US" sz="3055">
                <a:solidFill>
                  <a:srgbClr val="505050"/>
                </a:solidFill>
                <a:latin typeface="Roca One"/>
                <a:ea typeface="Roca One"/>
                <a:cs typeface="Roca One"/>
                <a:sym typeface="Roca One"/>
              </a:rPr>
              <a:t>Majority of people consider income as a factor in their marriage decisions. Approximately 79% of respondents either believe income is a definitive "Yes" factor (44.4%) or a conditional "Maybe" factor (34.5%). Only a small minority (21.1%) consider income to have no influence on their decision to marry.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1399571"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028700" y="525174"/>
            <a:ext cx="15935155" cy="6911870"/>
          </a:xfrm>
          <a:custGeom>
            <a:avLst/>
            <a:gdLst/>
            <a:ahLst/>
            <a:cxnLst/>
            <a:rect l="l" t="t" r="r" b="b"/>
            <a:pathLst>
              <a:path w="15935155" h="6911870">
                <a:moveTo>
                  <a:pt x="0" y="0"/>
                </a:moveTo>
                <a:lnTo>
                  <a:pt x="15935155" y="0"/>
                </a:lnTo>
                <a:lnTo>
                  <a:pt x="15935155" y="6911870"/>
                </a:lnTo>
                <a:lnTo>
                  <a:pt x="0" y="6911870"/>
                </a:lnTo>
                <a:lnTo>
                  <a:pt x="0" y="0"/>
                </a:lnTo>
                <a:close/>
              </a:path>
            </a:pathLst>
          </a:custGeom>
          <a:blipFill>
            <a:blip r:embed="rId4"/>
            <a:stretch>
              <a:fillRect l="-1730" t="-59471" b="-32263"/>
            </a:stretch>
          </a:blipFill>
        </p:spPr>
        <p:txBody>
          <a:bodyPr/>
          <a:lstStyle/>
          <a:p>
            <a:endParaRPr lang="en-IN"/>
          </a:p>
        </p:txBody>
      </p:sp>
      <p:sp>
        <p:nvSpPr>
          <p:cNvPr id="4" name="Freeform 4"/>
          <p:cNvSpPr/>
          <p:nvPr/>
        </p:nvSpPr>
        <p:spPr>
          <a:xfrm>
            <a:off x="0" y="7437044"/>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1028700" y="7659398"/>
            <a:ext cx="16230600" cy="1608326"/>
          </a:xfrm>
          <a:prstGeom prst="rect">
            <a:avLst/>
          </a:prstGeom>
        </p:spPr>
        <p:txBody>
          <a:bodyPr lIns="0" tIns="0" rIns="0" bIns="0" rtlCol="0" anchor="t">
            <a:spAutoFit/>
          </a:bodyPr>
          <a:lstStyle/>
          <a:p>
            <a:pPr algn="ctr">
              <a:lnSpc>
                <a:spcPts val="4277"/>
              </a:lnSpc>
              <a:spcBef>
                <a:spcPct val="0"/>
              </a:spcBef>
            </a:pPr>
            <a:r>
              <a:rPr lang="en-US" sz="3055">
                <a:solidFill>
                  <a:srgbClr val="505050"/>
                </a:solidFill>
                <a:latin typeface="Roca One"/>
                <a:ea typeface="Roca One"/>
                <a:cs typeface="Roca One"/>
                <a:sym typeface="Roca One"/>
              </a:rPr>
              <a:t>Most</a:t>
            </a:r>
            <a:r>
              <a:rPr lang="en-US" sz="3055" u="sng">
                <a:solidFill>
                  <a:srgbClr val="505050"/>
                </a:solidFill>
                <a:latin typeface="Roca One"/>
                <a:ea typeface="Roca One"/>
                <a:cs typeface="Roca One"/>
                <a:sym typeface="Roca One"/>
              </a:rPr>
              <a:t> people opt for small-scale/court marriages</a:t>
            </a:r>
            <a:r>
              <a:rPr lang="en-US" sz="3055">
                <a:solidFill>
                  <a:srgbClr val="505050"/>
                </a:solidFill>
                <a:latin typeface="Roca One"/>
                <a:ea typeface="Roca One"/>
                <a:cs typeface="Roca One"/>
                <a:sym typeface="Roca One"/>
              </a:rPr>
              <a:t> or . This reflects a growing preference for simpler and financially self-sufficient weddings. Rrather than </a:t>
            </a:r>
            <a:r>
              <a:rPr lang="en-US" sz="3055" u="sng">
                <a:solidFill>
                  <a:srgbClr val="505050"/>
                </a:solidFill>
                <a:latin typeface="Roca One"/>
                <a:ea typeface="Roca One"/>
                <a:cs typeface="Roca One"/>
                <a:sym typeface="Roca One"/>
              </a:rPr>
              <a:t>spending more money for treditional marriage </a:t>
            </a:r>
            <a:r>
              <a:rPr lang="en-US" sz="3055">
                <a:solidFill>
                  <a:srgbClr val="505050"/>
                </a:solidFill>
                <a:latin typeface="Roca One"/>
                <a:ea typeface="Roca One"/>
                <a:cs typeface="Roca One"/>
                <a:sym typeface="Roca One"/>
              </a:rPr>
              <a:t>or following traditions. </a:t>
            </a:r>
          </a:p>
        </p:txBody>
      </p:sp>
      <p:sp>
        <p:nvSpPr>
          <p:cNvPr id="6" name="TextBox 6"/>
          <p:cNvSpPr txBox="1"/>
          <p:nvPr/>
        </p:nvSpPr>
        <p:spPr>
          <a:xfrm>
            <a:off x="1373637" y="1853450"/>
            <a:ext cx="2709033" cy="701851"/>
          </a:xfrm>
          <a:prstGeom prst="rect">
            <a:avLst/>
          </a:prstGeom>
        </p:spPr>
        <p:txBody>
          <a:bodyPr lIns="0" tIns="0" rIns="0" bIns="0" rtlCol="0" anchor="t">
            <a:spAutoFit/>
          </a:bodyPr>
          <a:lstStyle/>
          <a:p>
            <a:pPr algn="ctr">
              <a:lnSpc>
                <a:spcPts val="2817"/>
              </a:lnSpc>
            </a:pPr>
            <a:r>
              <a:rPr lang="en-US" sz="2012">
                <a:solidFill>
                  <a:srgbClr val="000000"/>
                </a:solidFill>
                <a:latin typeface="Public Sans"/>
                <a:ea typeface="Public Sans"/>
                <a:cs typeface="Public Sans"/>
                <a:sym typeface="Public Sans"/>
              </a:rPr>
              <a:t>Half or more than half, </a:t>
            </a:r>
          </a:p>
          <a:p>
            <a:pPr algn="ctr">
              <a:lnSpc>
                <a:spcPts val="2817"/>
              </a:lnSpc>
              <a:spcBef>
                <a:spcPct val="0"/>
              </a:spcBef>
            </a:pPr>
            <a:r>
              <a:rPr lang="en-US" sz="2012">
                <a:solidFill>
                  <a:srgbClr val="000000"/>
                </a:solidFill>
                <a:latin typeface="Public Sans"/>
                <a:ea typeface="Public Sans"/>
                <a:cs typeface="Public Sans"/>
                <a:sym typeface="Public Sans"/>
              </a:rPr>
              <a:t>25.7%</a:t>
            </a:r>
          </a:p>
        </p:txBody>
      </p:sp>
      <p:sp>
        <p:nvSpPr>
          <p:cNvPr id="7" name="TextBox 7"/>
          <p:cNvSpPr txBox="1"/>
          <p:nvPr/>
        </p:nvSpPr>
        <p:spPr>
          <a:xfrm>
            <a:off x="4545264" y="1208009"/>
            <a:ext cx="1982947" cy="366197"/>
          </a:xfrm>
          <a:prstGeom prst="rect">
            <a:avLst/>
          </a:prstGeom>
        </p:spPr>
        <p:txBody>
          <a:bodyPr lIns="0" tIns="0" rIns="0" bIns="0" rtlCol="0" anchor="t">
            <a:spAutoFit/>
          </a:bodyPr>
          <a:lstStyle/>
          <a:p>
            <a:pPr marL="0" lvl="0" indent="0" algn="ctr">
              <a:lnSpc>
                <a:spcPts val="2953"/>
              </a:lnSpc>
              <a:spcBef>
                <a:spcPct val="0"/>
              </a:spcBef>
            </a:pPr>
            <a:r>
              <a:rPr lang="en-US" sz="2109" u="none" strike="noStrike">
                <a:solidFill>
                  <a:srgbClr val="000000"/>
                </a:solidFill>
                <a:latin typeface="Public Sans"/>
                <a:ea typeface="Public Sans"/>
                <a:cs typeface="Public Sans"/>
                <a:sym typeface="Public Sans"/>
              </a:rPr>
              <a:t>Take a loan,  2%</a:t>
            </a:r>
          </a:p>
        </p:txBody>
      </p:sp>
      <p:sp>
        <p:nvSpPr>
          <p:cNvPr id="8" name="TextBox 8"/>
          <p:cNvSpPr txBox="1"/>
          <p:nvPr/>
        </p:nvSpPr>
        <p:spPr>
          <a:xfrm>
            <a:off x="6888429" y="3703069"/>
            <a:ext cx="1969943" cy="851688"/>
          </a:xfrm>
          <a:prstGeom prst="rect">
            <a:avLst/>
          </a:prstGeom>
        </p:spPr>
        <p:txBody>
          <a:bodyPr lIns="0" tIns="0" rIns="0" bIns="0" rtlCol="0" anchor="t">
            <a:spAutoFit/>
          </a:bodyPr>
          <a:lstStyle/>
          <a:p>
            <a:pPr marL="0" lvl="0" indent="0" algn="ctr">
              <a:lnSpc>
                <a:spcPts val="3423"/>
              </a:lnSpc>
              <a:spcBef>
                <a:spcPct val="0"/>
              </a:spcBef>
            </a:pPr>
            <a:r>
              <a:rPr lang="en-US" sz="2445" u="none" strike="noStrike">
                <a:solidFill>
                  <a:srgbClr val="000000"/>
                </a:solidFill>
                <a:latin typeface="Public Sans"/>
                <a:ea typeface="Public Sans"/>
                <a:cs typeface="Public Sans"/>
                <a:sym typeface="Public Sans"/>
              </a:rPr>
              <a:t>Other</a:t>
            </a:r>
          </a:p>
          <a:p>
            <a:pPr marL="0" lvl="0" indent="0" algn="ctr">
              <a:lnSpc>
                <a:spcPts val="3423"/>
              </a:lnSpc>
              <a:spcBef>
                <a:spcPct val="0"/>
              </a:spcBef>
            </a:pPr>
            <a:r>
              <a:rPr lang="en-US" sz="2445" u="none" strike="noStrike">
                <a:solidFill>
                  <a:srgbClr val="000000"/>
                </a:solidFill>
                <a:latin typeface="Public Sans"/>
                <a:ea typeface="Public Sans"/>
                <a:cs typeface="Public Sans"/>
                <a:sym typeface="Public Sans"/>
              </a:rPr>
              <a:t> 53%</a:t>
            </a:r>
          </a:p>
        </p:txBody>
      </p:sp>
      <p:sp>
        <p:nvSpPr>
          <p:cNvPr id="9" name="TextBox 9"/>
          <p:cNvSpPr txBox="1"/>
          <p:nvPr/>
        </p:nvSpPr>
        <p:spPr>
          <a:xfrm>
            <a:off x="1528303" y="6408811"/>
            <a:ext cx="2554367" cy="701364"/>
          </a:xfrm>
          <a:prstGeom prst="rect">
            <a:avLst/>
          </a:prstGeom>
        </p:spPr>
        <p:txBody>
          <a:bodyPr lIns="0" tIns="0" rIns="0" bIns="0" rtlCol="0" anchor="t">
            <a:spAutoFit/>
          </a:bodyPr>
          <a:lstStyle/>
          <a:p>
            <a:pPr algn="ctr">
              <a:lnSpc>
                <a:spcPts val="2817"/>
              </a:lnSpc>
            </a:pPr>
            <a:r>
              <a:rPr lang="en-US" sz="2012">
                <a:solidFill>
                  <a:srgbClr val="000000"/>
                </a:solidFill>
                <a:latin typeface="Public Sans"/>
                <a:ea typeface="Public Sans"/>
                <a:cs typeface="Public Sans"/>
                <a:sym typeface="Public Sans"/>
              </a:rPr>
              <a:t>Full amount saved for</a:t>
            </a:r>
          </a:p>
          <a:p>
            <a:pPr algn="ctr">
              <a:lnSpc>
                <a:spcPts val="2817"/>
              </a:lnSpc>
              <a:spcBef>
                <a:spcPct val="0"/>
              </a:spcBef>
            </a:pPr>
            <a:r>
              <a:rPr lang="en-US" sz="2012">
                <a:solidFill>
                  <a:srgbClr val="000000"/>
                </a:solidFill>
                <a:latin typeface="Public Sans"/>
                <a:ea typeface="Public Sans"/>
                <a:cs typeface="Public Sans"/>
                <a:sym typeface="Public Sans"/>
              </a:rPr>
              <a:t>marriage, 19%</a:t>
            </a:r>
          </a:p>
        </p:txBody>
      </p:sp>
      <p:sp>
        <p:nvSpPr>
          <p:cNvPr id="10" name="TextBox 10"/>
          <p:cNvSpPr txBox="1"/>
          <p:nvPr/>
        </p:nvSpPr>
        <p:spPr>
          <a:xfrm>
            <a:off x="12259527" y="1526581"/>
            <a:ext cx="4275608" cy="701364"/>
          </a:xfrm>
          <a:prstGeom prst="rect">
            <a:avLst/>
          </a:prstGeom>
        </p:spPr>
        <p:txBody>
          <a:bodyPr lIns="0" tIns="0" rIns="0" bIns="0" rtlCol="0" anchor="t">
            <a:spAutoFit/>
          </a:bodyPr>
          <a:lstStyle/>
          <a:p>
            <a:pPr algn="ctr">
              <a:lnSpc>
                <a:spcPts val="2817"/>
              </a:lnSpc>
            </a:pPr>
            <a:r>
              <a:rPr lang="en-US" sz="2012">
                <a:solidFill>
                  <a:srgbClr val="000000"/>
                </a:solidFill>
                <a:latin typeface="Public Sans"/>
                <a:ea typeface="Public Sans"/>
                <a:cs typeface="Public Sans"/>
                <a:sym typeface="Public Sans"/>
              </a:rPr>
              <a:t>Court marriage /Small scale</a:t>
            </a:r>
          </a:p>
          <a:p>
            <a:pPr algn="ctr">
              <a:lnSpc>
                <a:spcPts val="2817"/>
              </a:lnSpc>
              <a:spcBef>
                <a:spcPct val="0"/>
              </a:spcBef>
            </a:pPr>
            <a:r>
              <a:rPr lang="en-US" sz="2012">
                <a:solidFill>
                  <a:srgbClr val="000000"/>
                </a:solidFill>
                <a:latin typeface="Public Sans"/>
                <a:ea typeface="Public Sans"/>
                <a:cs typeface="Public Sans"/>
                <a:sym typeface="Public Sans"/>
              </a:rPr>
              <a:t>wedding, 48%</a:t>
            </a:r>
          </a:p>
        </p:txBody>
      </p:sp>
      <p:sp>
        <p:nvSpPr>
          <p:cNvPr id="11" name="TextBox 11"/>
          <p:cNvSpPr txBox="1"/>
          <p:nvPr/>
        </p:nvSpPr>
        <p:spPr>
          <a:xfrm>
            <a:off x="13929787" y="6408811"/>
            <a:ext cx="1907699" cy="701364"/>
          </a:xfrm>
          <a:prstGeom prst="rect">
            <a:avLst/>
          </a:prstGeom>
        </p:spPr>
        <p:txBody>
          <a:bodyPr lIns="0" tIns="0" rIns="0" bIns="0" rtlCol="0" anchor="t">
            <a:spAutoFit/>
          </a:bodyPr>
          <a:lstStyle/>
          <a:p>
            <a:pPr algn="ctr">
              <a:lnSpc>
                <a:spcPts val="2817"/>
              </a:lnSpc>
            </a:pPr>
            <a:r>
              <a:rPr lang="en-US" sz="2012">
                <a:solidFill>
                  <a:srgbClr val="000000"/>
                </a:solidFill>
                <a:latin typeface="Public Sans"/>
                <a:ea typeface="Public Sans"/>
                <a:cs typeface="Public Sans"/>
                <a:sym typeface="Public Sans"/>
              </a:rPr>
              <a:t>Parents Money, </a:t>
            </a:r>
          </a:p>
          <a:p>
            <a:pPr algn="ctr">
              <a:lnSpc>
                <a:spcPts val="2817"/>
              </a:lnSpc>
              <a:spcBef>
                <a:spcPct val="0"/>
              </a:spcBef>
            </a:pPr>
            <a:r>
              <a:rPr lang="en-US" sz="2012">
                <a:solidFill>
                  <a:srgbClr val="000000"/>
                </a:solidFill>
                <a:latin typeface="Public Sans"/>
                <a:ea typeface="Public Sans"/>
                <a:cs typeface="Public Sans"/>
                <a:sym typeface="Public Sans"/>
              </a:rPr>
              <a:t>5%</a:t>
            </a:r>
          </a:p>
        </p:txBody>
      </p:sp>
      <p:sp>
        <p:nvSpPr>
          <p:cNvPr id="12" name="TextBox 12"/>
          <p:cNvSpPr txBox="1"/>
          <p:nvPr/>
        </p:nvSpPr>
        <p:spPr>
          <a:xfrm>
            <a:off x="6888429" y="490480"/>
            <a:ext cx="4511142" cy="538220"/>
          </a:xfrm>
          <a:prstGeom prst="rect">
            <a:avLst/>
          </a:prstGeom>
        </p:spPr>
        <p:txBody>
          <a:bodyPr lIns="0" tIns="0" rIns="0" bIns="0" rtlCol="0" anchor="t">
            <a:spAutoFit/>
          </a:bodyPr>
          <a:lstStyle/>
          <a:p>
            <a:pPr algn="ctr">
              <a:lnSpc>
                <a:spcPts val="4497"/>
              </a:lnSpc>
              <a:spcBef>
                <a:spcPct val="0"/>
              </a:spcBef>
            </a:pPr>
            <a:r>
              <a:rPr lang="en-US" sz="3212" b="1">
                <a:solidFill>
                  <a:srgbClr val="000000"/>
                </a:solidFill>
                <a:latin typeface="Canva Sans Bold"/>
                <a:ea typeface="Canva Sans Bold"/>
                <a:cs typeface="Canva Sans Bold"/>
                <a:sym typeface="Canva Sans Bold"/>
              </a:rPr>
              <a:t>WEDDING SPENDINGS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1429145"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2421708" y="432588"/>
            <a:ext cx="12372922" cy="6882438"/>
          </a:xfrm>
          <a:custGeom>
            <a:avLst/>
            <a:gdLst/>
            <a:ahLst/>
            <a:cxnLst/>
            <a:rect l="l" t="t" r="r" b="b"/>
            <a:pathLst>
              <a:path w="12372922" h="6882438">
                <a:moveTo>
                  <a:pt x="0" y="0"/>
                </a:moveTo>
                <a:lnTo>
                  <a:pt x="12372921" y="0"/>
                </a:lnTo>
                <a:lnTo>
                  <a:pt x="12372921" y="6882437"/>
                </a:lnTo>
                <a:lnTo>
                  <a:pt x="0" y="6882437"/>
                </a:lnTo>
                <a:lnTo>
                  <a:pt x="0" y="0"/>
                </a:lnTo>
                <a:close/>
              </a:path>
            </a:pathLst>
          </a:custGeom>
          <a:blipFill>
            <a:blip r:embed="rId4"/>
            <a:stretch>
              <a:fillRect/>
            </a:stretch>
          </a:blipFill>
        </p:spPr>
        <p:txBody>
          <a:bodyPr/>
          <a:lstStyle/>
          <a:p>
            <a:endParaRPr lang="en-IN"/>
          </a:p>
        </p:txBody>
      </p:sp>
      <p:sp>
        <p:nvSpPr>
          <p:cNvPr id="4" name="Freeform 4"/>
          <p:cNvSpPr/>
          <p:nvPr/>
        </p:nvSpPr>
        <p:spPr>
          <a:xfrm>
            <a:off x="0" y="7418752"/>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1028700" y="7659398"/>
            <a:ext cx="16230600" cy="2151251"/>
          </a:xfrm>
          <a:prstGeom prst="rect">
            <a:avLst/>
          </a:prstGeom>
        </p:spPr>
        <p:txBody>
          <a:bodyPr lIns="0" tIns="0" rIns="0" bIns="0" rtlCol="0" anchor="t">
            <a:spAutoFit/>
          </a:bodyPr>
          <a:lstStyle/>
          <a:p>
            <a:pPr algn="ctr">
              <a:lnSpc>
                <a:spcPts val="4277"/>
              </a:lnSpc>
              <a:spcBef>
                <a:spcPct val="0"/>
              </a:spcBef>
            </a:pPr>
            <a:r>
              <a:rPr lang="en-US" sz="3055">
                <a:solidFill>
                  <a:srgbClr val="505050"/>
                </a:solidFill>
                <a:latin typeface="Roca One"/>
                <a:ea typeface="Roca One"/>
                <a:cs typeface="Roca One"/>
                <a:sym typeface="Roca One"/>
              </a:rPr>
              <a:t>The majority, especially among the younger </a:t>
            </a:r>
            <a:r>
              <a:rPr lang="en-US" sz="3055" u="sng">
                <a:solidFill>
                  <a:srgbClr val="505050"/>
                </a:solidFill>
                <a:latin typeface="Roca One"/>
                <a:ea typeface="Roca One"/>
                <a:cs typeface="Roca One"/>
                <a:sym typeface="Roca One"/>
              </a:rPr>
              <a:t>generation (18–20)</a:t>
            </a:r>
            <a:r>
              <a:rPr lang="en-US" sz="3055">
                <a:solidFill>
                  <a:srgbClr val="505050"/>
                </a:solidFill>
                <a:latin typeface="Roca One"/>
                <a:ea typeface="Roca One"/>
                <a:cs typeface="Roca One"/>
                <a:sym typeface="Roca One"/>
              </a:rPr>
              <a:t>, prefer </a:t>
            </a:r>
            <a:r>
              <a:rPr lang="en-US" sz="3055" u="sng">
                <a:solidFill>
                  <a:srgbClr val="505050"/>
                </a:solidFill>
                <a:latin typeface="Roca One"/>
                <a:ea typeface="Roca One"/>
                <a:cs typeface="Roca One"/>
                <a:sym typeface="Roca One"/>
              </a:rPr>
              <a:t>equal financial contribution (50/50) </a:t>
            </a:r>
            <a:r>
              <a:rPr lang="en-US" sz="3055">
                <a:solidFill>
                  <a:srgbClr val="505050"/>
                </a:solidFill>
                <a:latin typeface="Roca One"/>
                <a:ea typeface="Roca One"/>
                <a:cs typeface="Roca One"/>
                <a:sym typeface="Roca One"/>
              </a:rPr>
              <a:t>or sharing in proportion to income, while traditional one-sided contribution models are far less favored. </a:t>
            </a:r>
            <a:r>
              <a:rPr lang="en-US" sz="3055" u="sng">
                <a:solidFill>
                  <a:srgbClr val="505050"/>
                </a:solidFill>
                <a:latin typeface="Roca One"/>
                <a:ea typeface="Roca One"/>
                <a:cs typeface="Roca One"/>
                <a:sym typeface="Roca One"/>
              </a:rPr>
              <a:t>Youngsters are not supporting for one-sided contribution </a:t>
            </a:r>
          </a:p>
        </p:txBody>
      </p:sp>
      <p:sp>
        <p:nvSpPr>
          <p:cNvPr id="6" name="TextBox 6"/>
          <p:cNvSpPr txBox="1"/>
          <p:nvPr/>
        </p:nvSpPr>
        <p:spPr>
          <a:xfrm>
            <a:off x="5084147" y="441242"/>
            <a:ext cx="9710483" cy="587458"/>
          </a:xfrm>
          <a:prstGeom prst="rect">
            <a:avLst/>
          </a:prstGeom>
        </p:spPr>
        <p:txBody>
          <a:bodyPr lIns="0" tIns="0" rIns="0" bIns="0" rtlCol="0" anchor="t">
            <a:spAutoFit/>
          </a:bodyPr>
          <a:lstStyle/>
          <a:p>
            <a:pPr algn="ctr">
              <a:lnSpc>
                <a:spcPts val="4875"/>
              </a:lnSpc>
            </a:pPr>
            <a:r>
              <a:rPr lang="en-US" sz="3482" b="1">
                <a:solidFill>
                  <a:srgbClr val="505050"/>
                </a:solidFill>
                <a:latin typeface="Canva Sans Bold"/>
                <a:ea typeface="Canva Sans Bold"/>
                <a:cs typeface="Canva Sans Bold"/>
                <a:sym typeface="Canva Sans Bold"/>
              </a:rPr>
              <a:t>Household contribution Male(M) &amp; Female(F)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3725504" y="379221"/>
            <a:ext cx="11009112" cy="7219095"/>
          </a:xfrm>
          <a:custGeom>
            <a:avLst/>
            <a:gdLst/>
            <a:ahLst/>
            <a:cxnLst/>
            <a:rect l="l" t="t" r="r" b="b"/>
            <a:pathLst>
              <a:path w="11009112" h="7219095">
                <a:moveTo>
                  <a:pt x="0" y="0"/>
                </a:moveTo>
                <a:lnTo>
                  <a:pt x="11009112" y="0"/>
                </a:lnTo>
                <a:lnTo>
                  <a:pt x="11009112" y="7219095"/>
                </a:lnTo>
                <a:lnTo>
                  <a:pt x="0" y="7219095"/>
                </a:lnTo>
                <a:lnTo>
                  <a:pt x="0" y="0"/>
                </a:lnTo>
                <a:close/>
              </a:path>
            </a:pathLst>
          </a:custGeom>
          <a:blipFill>
            <a:blip r:embed="rId2"/>
            <a:stretch>
              <a:fillRect l="-322" t="-432" b="-1881"/>
            </a:stretch>
          </a:blipFill>
        </p:spPr>
        <p:txBody>
          <a:bodyPr/>
          <a:lstStyle/>
          <a:p>
            <a:endParaRPr lang="en-IN"/>
          </a:p>
        </p:txBody>
      </p:sp>
      <p:sp>
        <p:nvSpPr>
          <p:cNvPr id="3" name="TextBox 3"/>
          <p:cNvSpPr txBox="1"/>
          <p:nvPr/>
        </p:nvSpPr>
        <p:spPr>
          <a:xfrm>
            <a:off x="258097" y="1396024"/>
            <a:ext cx="3301488" cy="5657028"/>
          </a:xfrm>
          <a:prstGeom prst="rect">
            <a:avLst/>
          </a:prstGeom>
        </p:spPr>
        <p:txBody>
          <a:bodyPr lIns="0" tIns="0" rIns="0" bIns="0" rtlCol="0" anchor="t">
            <a:spAutoFit/>
          </a:bodyPr>
          <a:lstStyle/>
          <a:p>
            <a:pPr algn="l">
              <a:lnSpc>
                <a:spcPts val="2670"/>
              </a:lnSpc>
            </a:pPr>
            <a:r>
              <a:rPr lang="en-US" sz="1907" b="1">
                <a:solidFill>
                  <a:srgbClr val="505050"/>
                </a:solidFill>
                <a:latin typeface="Roca One Bold"/>
                <a:ea typeface="Roca One Bold"/>
                <a:cs typeface="Roca One Bold"/>
                <a:sym typeface="Roca One Bold"/>
              </a:rPr>
              <a:t>Female Trends</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Strong agreement with:</a:t>
            </a:r>
          </a:p>
          <a:p>
            <a:pPr marL="823606" lvl="2" indent="-274535" algn="l">
              <a:lnSpc>
                <a:spcPts val="2670"/>
              </a:lnSpc>
              <a:buFont typeface="Arial"/>
              <a:buChar char="⚬"/>
            </a:pPr>
            <a:r>
              <a:rPr lang="en-US" sz="1907">
                <a:solidFill>
                  <a:srgbClr val="505050"/>
                </a:solidFill>
                <a:latin typeface="Roca One"/>
                <a:ea typeface="Roca One"/>
                <a:cs typeface="Roca One"/>
                <a:sym typeface="Roca One"/>
              </a:rPr>
              <a:t>Staying single rather than settling</a:t>
            </a:r>
          </a:p>
          <a:p>
            <a:pPr marL="823606" lvl="2" indent="-274535" algn="l">
              <a:lnSpc>
                <a:spcPts val="2670"/>
              </a:lnSpc>
              <a:buFont typeface="Arial"/>
              <a:buChar char="⚬"/>
            </a:pPr>
            <a:r>
              <a:rPr lang="en-US" sz="1907">
                <a:solidFill>
                  <a:srgbClr val="505050"/>
                </a:solidFill>
                <a:latin typeface="Roca One"/>
                <a:ea typeface="Roca One"/>
                <a:cs typeface="Roca One"/>
                <a:sym typeface="Roca One"/>
              </a:rPr>
              <a:t>Postponing marriage until financially stable</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More agreement than men on financial compatibility being more important than romance</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Mixed views on societal pressure — some feel it, others don’t</a:t>
            </a:r>
          </a:p>
          <a:p>
            <a:pPr algn="l">
              <a:lnSpc>
                <a:spcPts val="2670"/>
              </a:lnSpc>
            </a:pPr>
            <a:endParaRPr lang="en-US" sz="1907">
              <a:solidFill>
                <a:srgbClr val="505050"/>
              </a:solidFill>
              <a:latin typeface="Roca One"/>
              <a:ea typeface="Roca One"/>
              <a:cs typeface="Roca One"/>
              <a:sym typeface="Roca One"/>
            </a:endParaRPr>
          </a:p>
          <a:p>
            <a:pPr algn="l">
              <a:lnSpc>
                <a:spcPts val="2670"/>
              </a:lnSpc>
            </a:pPr>
            <a:endParaRPr lang="en-US" sz="1907">
              <a:solidFill>
                <a:srgbClr val="505050"/>
              </a:solidFill>
              <a:latin typeface="Roca One"/>
              <a:ea typeface="Roca One"/>
              <a:cs typeface="Roca One"/>
              <a:sym typeface="Roca One"/>
            </a:endParaRPr>
          </a:p>
          <a:p>
            <a:pPr algn="l">
              <a:lnSpc>
                <a:spcPts val="2670"/>
              </a:lnSpc>
              <a:spcBef>
                <a:spcPct val="0"/>
              </a:spcBef>
            </a:pPr>
            <a:endParaRPr lang="en-US" sz="1907">
              <a:solidFill>
                <a:srgbClr val="505050"/>
              </a:solidFill>
              <a:latin typeface="Roca One"/>
              <a:ea typeface="Roca One"/>
              <a:cs typeface="Roca One"/>
              <a:sym typeface="Roca One"/>
            </a:endParaRPr>
          </a:p>
        </p:txBody>
      </p:sp>
      <p:sp>
        <p:nvSpPr>
          <p:cNvPr id="4" name="TextBox 4"/>
          <p:cNvSpPr txBox="1"/>
          <p:nvPr/>
        </p:nvSpPr>
        <p:spPr>
          <a:xfrm>
            <a:off x="14900536" y="1722553"/>
            <a:ext cx="3166239" cy="4990278"/>
          </a:xfrm>
          <a:prstGeom prst="rect">
            <a:avLst/>
          </a:prstGeom>
        </p:spPr>
        <p:txBody>
          <a:bodyPr lIns="0" tIns="0" rIns="0" bIns="0" rtlCol="0" anchor="t">
            <a:spAutoFit/>
          </a:bodyPr>
          <a:lstStyle/>
          <a:p>
            <a:pPr algn="l">
              <a:lnSpc>
                <a:spcPts val="2670"/>
              </a:lnSpc>
            </a:pPr>
            <a:r>
              <a:rPr lang="en-US" sz="1907" b="1">
                <a:solidFill>
                  <a:srgbClr val="505050"/>
                </a:solidFill>
                <a:latin typeface="Roca One Bold"/>
                <a:ea typeface="Roca One Bold"/>
                <a:cs typeface="Roca One Bold"/>
                <a:sym typeface="Roca One Bold"/>
              </a:rPr>
              <a:t>Male Trends</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Also strong agreement with:</a:t>
            </a:r>
          </a:p>
          <a:p>
            <a:pPr marL="823606" lvl="2" indent="-274535" algn="l">
              <a:lnSpc>
                <a:spcPts val="2670"/>
              </a:lnSpc>
              <a:buFont typeface="Arial"/>
              <a:buChar char="⚬"/>
            </a:pPr>
            <a:r>
              <a:rPr lang="en-US" sz="1907">
                <a:solidFill>
                  <a:srgbClr val="505050"/>
                </a:solidFill>
                <a:latin typeface="Roca One"/>
                <a:ea typeface="Roca One"/>
                <a:cs typeface="Roca One"/>
                <a:sym typeface="Roca One"/>
              </a:rPr>
              <a:t>Staying single rather than settling</a:t>
            </a:r>
          </a:p>
          <a:p>
            <a:pPr marL="823606" lvl="2" indent="-274535" algn="l">
              <a:lnSpc>
                <a:spcPts val="2670"/>
              </a:lnSpc>
              <a:buFont typeface="Arial"/>
              <a:buChar char="⚬"/>
            </a:pPr>
            <a:r>
              <a:rPr lang="en-US" sz="1907">
                <a:solidFill>
                  <a:srgbClr val="505050"/>
                </a:solidFill>
                <a:latin typeface="Roca One"/>
                <a:ea typeface="Roca One"/>
                <a:cs typeface="Roca One"/>
                <a:sym typeface="Roca One"/>
              </a:rPr>
              <a:t>Postponing marriage until financially stable</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Less agreement than women on financial &gt; romantic compatibility</a:t>
            </a:r>
          </a:p>
          <a:p>
            <a:pPr marL="411803" lvl="1" indent="-205901" algn="l">
              <a:lnSpc>
                <a:spcPts val="2670"/>
              </a:lnSpc>
              <a:buFont typeface="Arial"/>
              <a:buChar char="•"/>
            </a:pPr>
            <a:r>
              <a:rPr lang="en-US" sz="1907">
                <a:solidFill>
                  <a:srgbClr val="505050"/>
                </a:solidFill>
                <a:latin typeface="Roca One"/>
                <a:ea typeface="Roca One"/>
                <a:cs typeface="Roca One"/>
                <a:sym typeface="Roca One"/>
              </a:rPr>
              <a:t>More likely to disagree with feeling societal pressure to marry</a:t>
            </a:r>
          </a:p>
          <a:p>
            <a:pPr algn="l">
              <a:lnSpc>
                <a:spcPts val="2670"/>
              </a:lnSpc>
              <a:spcBef>
                <a:spcPct val="0"/>
              </a:spcBef>
            </a:pPr>
            <a:endParaRPr lang="en-US" sz="1907">
              <a:solidFill>
                <a:srgbClr val="505050"/>
              </a:solidFill>
              <a:latin typeface="Roca One"/>
              <a:ea typeface="Roca One"/>
              <a:cs typeface="Roca One"/>
              <a:sym typeface="Roca One"/>
            </a:endParaRPr>
          </a:p>
        </p:txBody>
      </p:sp>
      <p:sp>
        <p:nvSpPr>
          <p:cNvPr id="5" name="TextBox 5"/>
          <p:cNvSpPr txBox="1"/>
          <p:nvPr/>
        </p:nvSpPr>
        <p:spPr>
          <a:xfrm>
            <a:off x="3891423" y="8005987"/>
            <a:ext cx="11209201" cy="2457001"/>
          </a:xfrm>
          <a:prstGeom prst="rect">
            <a:avLst/>
          </a:prstGeom>
        </p:spPr>
        <p:txBody>
          <a:bodyPr lIns="0" tIns="0" rIns="0" bIns="0" rtlCol="0" anchor="t">
            <a:spAutoFit/>
          </a:bodyPr>
          <a:lstStyle/>
          <a:p>
            <a:pPr marL="432974" lvl="1" indent="-216487" algn="l">
              <a:lnSpc>
                <a:spcPts val="2807"/>
              </a:lnSpc>
              <a:buFont typeface="Arial"/>
              <a:buChar char="•"/>
            </a:pPr>
            <a:r>
              <a:rPr lang="en-US" sz="2005">
                <a:solidFill>
                  <a:srgbClr val="505050"/>
                </a:solidFill>
                <a:latin typeface="Roca One"/>
                <a:ea typeface="Roca One"/>
                <a:cs typeface="Roca One"/>
                <a:sym typeface="Roca One"/>
              </a:rPr>
              <a:t>Both genders strongly value standards and financial readiness before marriage.</a:t>
            </a:r>
          </a:p>
          <a:p>
            <a:pPr marL="432974" lvl="1" indent="-216487" algn="l">
              <a:lnSpc>
                <a:spcPts val="2807"/>
              </a:lnSpc>
              <a:buFont typeface="Arial"/>
              <a:buChar char="•"/>
            </a:pPr>
            <a:r>
              <a:rPr lang="en-US" sz="2005">
                <a:solidFill>
                  <a:srgbClr val="505050"/>
                </a:solidFill>
                <a:latin typeface="Roca One"/>
                <a:ea typeface="Roca One"/>
                <a:cs typeface="Roca One"/>
                <a:sym typeface="Roca One"/>
              </a:rPr>
              <a:t>Women are more likely to prioritize financial compatibility over romance.</a:t>
            </a:r>
          </a:p>
          <a:p>
            <a:pPr marL="432974" lvl="1" indent="-216487" algn="l">
              <a:lnSpc>
                <a:spcPts val="2807"/>
              </a:lnSpc>
              <a:buFont typeface="Arial"/>
              <a:buChar char="•"/>
            </a:pPr>
            <a:r>
              <a:rPr lang="en-US" sz="2005">
                <a:solidFill>
                  <a:srgbClr val="505050"/>
                </a:solidFill>
                <a:latin typeface="Roca One"/>
                <a:ea typeface="Roca One"/>
                <a:cs typeface="Roca One"/>
                <a:sym typeface="Roca One"/>
              </a:rPr>
              <a:t>Men are less likely to feel societal pressure to marry compared to women.</a:t>
            </a:r>
          </a:p>
          <a:p>
            <a:pPr marL="432974" lvl="1" indent="-216487" algn="l">
              <a:lnSpc>
                <a:spcPts val="2807"/>
              </a:lnSpc>
              <a:buFont typeface="Arial"/>
              <a:buChar char="•"/>
            </a:pPr>
            <a:r>
              <a:rPr lang="en-US" sz="2005">
                <a:solidFill>
                  <a:srgbClr val="505050"/>
                </a:solidFill>
                <a:latin typeface="Roca One"/>
                <a:ea typeface="Roca One"/>
                <a:cs typeface="Roca One"/>
                <a:sym typeface="Roca One"/>
              </a:rPr>
              <a:t>Agreement with “stay single rather than settle” and “postpone marriage until financially stable” is consistently high across both genders (~80–90%).</a:t>
            </a:r>
          </a:p>
          <a:p>
            <a:pPr algn="l">
              <a:lnSpc>
                <a:spcPts val="2807"/>
              </a:lnSpc>
            </a:pPr>
            <a:endParaRPr lang="en-US" sz="2005">
              <a:solidFill>
                <a:srgbClr val="505050"/>
              </a:solidFill>
              <a:latin typeface="Roca One"/>
              <a:ea typeface="Roca One"/>
              <a:cs typeface="Roca One"/>
              <a:sym typeface="Roca One"/>
            </a:endParaRPr>
          </a:p>
          <a:p>
            <a:pPr algn="l">
              <a:lnSpc>
                <a:spcPts val="2807"/>
              </a:lnSpc>
              <a:spcBef>
                <a:spcPct val="0"/>
              </a:spcBef>
            </a:pPr>
            <a:endParaRPr lang="en-US" sz="2005">
              <a:solidFill>
                <a:srgbClr val="505050"/>
              </a:solidFill>
              <a:latin typeface="Roca One"/>
              <a:ea typeface="Roca One"/>
              <a:cs typeface="Roca One"/>
              <a:sym typeface="Roca On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11429145"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029560" y="355214"/>
            <a:ext cx="10228880" cy="7032128"/>
          </a:xfrm>
          <a:custGeom>
            <a:avLst/>
            <a:gdLst/>
            <a:ahLst/>
            <a:cxnLst/>
            <a:rect l="l" t="t" r="r" b="b"/>
            <a:pathLst>
              <a:path w="10228880" h="7032128">
                <a:moveTo>
                  <a:pt x="0" y="0"/>
                </a:moveTo>
                <a:lnTo>
                  <a:pt x="10228880" y="0"/>
                </a:lnTo>
                <a:lnTo>
                  <a:pt x="10228880" y="7032128"/>
                </a:lnTo>
                <a:lnTo>
                  <a:pt x="0" y="7032128"/>
                </a:lnTo>
                <a:lnTo>
                  <a:pt x="0" y="0"/>
                </a:lnTo>
                <a:close/>
              </a:path>
            </a:pathLst>
          </a:custGeom>
          <a:blipFill>
            <a:blip r:embed="rId4"/>
            <a:stretch>
              <a:fillRect t="-309" b="-309"/>
            </a:stretch>
          </a:blipFill>
        </p:spPr>
        <p:txBody>
          <a:bodyPr/>
          <a:lstStyle/>
          <a:p>
            <a:endParaRPr lang="en-IN"/>
          </a:p>
        </p:txBody>
      </p:sp>
      <p:sp>
        <p:nvSpPr>
          <p:cNvPr id="4" name="TextBox 4"/>
          <p:cNvSpPr txBox="1"/>
          <p:nvPr/>
        </p:nvSpPr>
        <p:spPr>
          <a:xfrm>
            <a:off x="390525" y="7545986"/>
            <a:ext cx="17259300" cy="2788639"/>
          </a:xfrm>
          <a:prstGeom prst="rect">
            <a:avLst/>
          </a:prstGeom>
        </p:spPr>
        <p:txBody>
          <a:bodyPr lIns="0" tIns="0" rIns="0" bIns="0" rtlCol="0" anchor="t">
            <a:spAutoFit/>
          </a:bodyPr>
          <a:lstStyle/>
          <a:p>
            <a:pPr marL="580351" lvl="1" indent="-290176" algn="l">
              <a:lnSpc>
                <a:spcPts val="3763"/>
              </a:lnSpc>
              <a:buFont typeface="Arial"/>
              <a:buChar char="•"/>
            </a:pPr>
            <a:r>
              <a:rPr lang="en-US" sz="2688">
                <a:solidFill>
                  <a:srgbClr val="505050"/>
                </a:solidFill>
                <a:latin typeface="Roca One"/>
                <a:ea typeface="Roca One"/>
                <a:cs typeface="Roca One"/>
                <a:sym typeface="Roca One"/>
              </a:rPr>
              <a:t>Women’s support for debt is strongest when they feel financial pressure (concern about wedding cost).</a:t>
            </a:r>
          </a:p>
          <a:p>
            <a:pPr marL="580351" lvl="1" indent="-290176" algn="l">
              <a:lnSpc>
                <a:spcPts val="3763"/>
              </a:lnSpc>
              <a:buFont typeface="Arial"/>
              <a:buChar char="•"/>
            </a:pPr>
            <a:r>
              <a:rPr lang="en-US" sz="2688">
                <a:solidFill>
                  <a:srgbClr val="505050"/>
                </a:solidFill>
                <a:latin typeface="Roca One"/>
                <a:ea typeface="Roca One"/>
                <a:cs typeface="Roca One"/>
                <a:sym typeface="Roca One"/>
              </a:rPr>
              <a:t>Men’s support for debt is strongest when they don’t feel financial pressure (no concern about cost).</a:t>
            </a:r>
          </a:p>
          <a:p>
            <a:pPr marL="580351" lvl="1" indent="-290176" algn="l">
              <a:lnSpc>
                <a:spcPts val="3763"/>
              </a:lnSpc>
              <a:buFont typeface="Arial"/>
              <a:buChar char="•"/>
            </a:pPr>
            <a:r>
              <a:rPr lang="en-US" sz="2688">
                <a:solidFill>
                  <a:srgbClr val="505050"/>
                </a:solidFill>
                <a:latin typeface="Roca One"/>
                <a:ea typeface="Roca One"/>
                <a:cs typeface="Roca One"/>
                <a:sym typeface="Roca One"/>
              </a:rPr>
              <a:t> This suggests that:</a:t>
            </a:r>
          </a:p>
          <a:p>
            <a:pPr algn="l">
              <a:lnSpc>
                <a:spcPts val="3763"/>
              </a:lnSpc>
            </a:pPr>
            <a:r>
              <a:rPr lang="en-US" sz="2688">
                <a:solidFill>
                  <a:srgbClr val="505050"/>
                </a:solidFill>
                <a:latin typeface="Roca One"/>
                <a:ea typeface="Roca One"/>
                <a:cs typeface="Roca One"/>
                <a:sym typeface="Roca One"/>
              </a:rPr>
              <a:t>             1) Women may see debt as a necessary solution to a financial problem.</a:t>
            </a:r>
          </a:p>
          <a:p>
            <a:pPr algn="l">
              <a:lnSpc>
                <a:spcPts val="3763"/>
              </a:lnSpc>
            </a:pPr>
            <a:r>
              <a:rPr lang="en-US" sz="2688">
                <a:solidFill>
                  <a:srgbClr val="505050"/>
                </a:solidFill>
                <a:latin typeface="Roca One"/>
                <a:ea typeface="Roca One"/>
                <a:cs typeface="Roca One"/>
                <a:sym typeface="Roca One"/>
              </a:rPr>
              <a:t>             2)Men may view debt more as an acceptable or default approach, not necessarily tied to worry</a:t>
            </a:r>
          </a:p>
          <a:p>
            <a:pPr algn="l">
              <a:lnSpc>
                <a:spcPts val="3763"/>
              </a:lnSpc>
              <a:spcBef>
                <a:spcPct val="0"/>
              </a:spcBef>
            </a:pPr>
            <a:endParaRPr lang="en-US" sz="2688">
              <a:solidFill>
                <a:srgbClr val="505050"/>
              </a:solidFill>
              <a:latin typeface="Roca One"/>
              <a:ea typeface="Roca One"/>
              <a:cs typeface="Roca One"/>
              <a:sym typeface="Roca On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505544" y="337705"/>
            <a:ext cx="6941287" cy="6923557"/>
          </a:xfrm>
          <a:custGeom>
            <a:avLst/>
            <a:gdLst/>
            <a:ahLst/>
            <a:cxnLst/>
            <a:rect l="l" t="t" r="r" b="b"/>
            <a:pathLst>
              <a:path w="6941287" h="6923557">
                <a:moveTo>
                  <a:pt x="0" y="0"/>
                </a:moveTo>
                <a:lnTo>
                  <a:pt x="6941287" y="0"/>
                </a:lnTo>
                <a:lnTo>
                  <a:pt x="6941287" y="6923558"/>
                </a:lnTo>
                <a:lnTo>
                  <a:pt x="0" y="6923558"/>
                </a:lnTo>
                <a:lnTo>
                  <a:pt x="0" y="0"/>
                </a:lnTo>
                <a:close/>
              </a:path>
            </a:pathLst>
          </a:custGeom>
          <a:blipFill>
            <a:blip r:embed="rId2"/>
            <a:stretch>
              <a:fillRect/>
            </a:stretch>
          </a:blipFill>
        </p:spPr>
        <p:txBody>
          <a:bodyPr/>
          <a:lstStyle/>
          <a:p>
            <a:endParaRPr lang="en-IN"/>
          </a:p>
        </p:txBody>
      </p:sp>
      <p:sp>
        <p:nvSpPr>
          <p:cNvPr id="3" name="Freeform 3"/>
          <p:cNvSpPr/>
          <p:nvPr/>
        </p:nvSpPr>
        <p:spPr>
          <a:xfrm>
            <a:off x="11148625" y="2868248"/>
            <a:ext cx="6802627" cy="6923557"/>
          </a:xfrm>
          <a:custGeom>
            <a:avLst/>
            <a:gdLst/>
            <a:ahLst/>
            <a:cxnLst/>
            <a:rect l="l" t="t" r="r" b="b"/>
            <a:pathLst>
              <a:path w="6802627" h="6923557">
                <a:moveTo>
                  <a:pt x="0" y="0"/>
                </a:moveTo>
                <a:lnTo>
                  <a:pt x="6802627" y="0"/>
                </a:lnTo>
                <a:lnTo>
                  <a:pt x="6802627" y="6923558"/>
                </a:lnTo>
                <a:lnTo>
                  <a:pt x="0" y="6923558"/>
                </a:lnTo>
                <a:lnTo>
                  <a:pt x="0" y="0"/>
                </a:lnTo>
                <a:close/>
              </a:path>
            </a:pathLst>
          </a:custGeom>
          <a:blipFill>
            <a:blip r:embed="rId3"/>
            <a:stretch>
              <a:fillRect l="-692" r="-692"/>
            </a:stretch>
          </a:blipFill>
        </p:spPr>
        <p:txBody>
          <a:bodyPr/>
          <a:lstStyle/>
          <a:p>
            <a:endParaRPr lang="en-IN"/>
          </a:p>
        </p:txBody>
      </p:sp>
      <p:sp>
        <p:nvSpPr>
          <p:cNvPr id="4" name="TextBox 4"/>
          <p:cNvSpPr txBox="1"/>
          <p:nvPr/>
        </p:nvSpPr>
        <p:spPr>
          <a:xfrm>
            <a:off x="505544" y="7453879"/>
            <a:ext cx="8596149" cy="2833121"/>
          </a:xfrm>
          <a:prstGeom prst="rect">
            <a:avLst/>
          </a:prstGeom>
        </p:spPr>
        <p:txBody>
          <a:bodyPr lIns="0" tIns="0" rIns="0" bIns="0" rtlCol="0" anchor="t">
            <a:spAutoFit/>
          </a:bodyPr>
          <a:lstStyle/>
          <a:p>
            <a:pPr marL="0" lvl="0" indent="0" algn="just">
              <a:lnSpc>
                <a:spcPts val="3769"/>
              </a:lnSpc>
              <a:spcBef>
                <a:spcPct val="0"/>
              </a:spcBef>
            </a:pPr>
            <a:r>
              <a:rPr lang="en-US" sz="2692" u="none" strike="noStrike">
                <a:solidFill>
                  <a:srgbClr val="505050"/>
                </a:solidFill>
                <a:latin typeface="Roca One"/>
                <a:ea typeface="Roca One"/>
                <a:cs typeface="Roca One"/>
                <a:sym typeface="Roca One"/>
              </a:rPr>
              <a:t> The analysis shows that the majority of respondents prefer their partner to earn the same as themselves, which underscores a growing emphasis on balance, parity, and the avoidance of financial dependency in marital relationships.</a:t>
            </a:r>
          </a:p>
          <a:p>
            <a:pPr marL="0" lvl="0" indent="0" algn="just">
              <a:lnSpc>
                <a:spcPts val="3769"/>
              </a:lnSpc>
              <a:spcBef>
                <a:spcPct val="0"/>
              </a:spcBef>
            </a:pPr>
            <a:endParaRPr lang="en-US" sz="2692" u="none" strike="noStrike">
              <a:solidFill>
                <a:srgbClr val="505050"/>
              </a:solidFill>
              <a:latin typeface="Roca One"/>
              <a:ea typeface="Roca One"/>
              <a:cs typeface="Roca One"/>
              <a:sym typeface="Roca One"/>
            </a:endParaRPr>
          </a:p>
        </p:txBody>
      </p:sp>
      <p:sp>
        <p:nvSpPr>
          <p:cNvPr id="5" name="TextBox 5"/>
          <p:cNvSpPr txBox="1"/>
          <p:nvPr/>
        </p:nvSpPr>
        <p:spPr>
          <a:xfrm>
            <a:off x="9013848" y="280555"/>
            <a:ext cx="8937404" cy="2678830"/>
          </a:xfrm>
          <a:prstGeom prst="rect">
            <a:avLst/>
          </a:prstGeom>
        </p:spPr>
        <p:txBody>
          <a:bodyPr lIns="0" tIns="0" rIns="0" bIns="0" rtlCol="0" anchor="t">
            <a:spAutoFit/>
          </a:bodyPr>
          <a:lstStyle/>
          <a:p>
            <a:pPr marL="0" lvl="0" indent="0" algn="just">
              <a:lnSpc>
                <a:spcPts val="3547"/>
              </a:lnSpc>
              <a:spcBef>
                <a:spcPct val="0"/>
              </a:spcBef>
            </a:pPr>
            <a:r>
              <a:rPr lang="en-US" sz="2534" u="none" strike="noStrike">
                <a:solidFill>
                  <a:srgbClr val="505050"/>
                </a:solidFill>
                <a:latin typeface="Roca One"/>
                <a:ea typeface="Roca One"/>
                <a:cs typeface="Roca One"/>
                <a:sym typeface="Roca One"/>
              </a:rPr>
              <a:t>The data indicates that the majority of respondents consider the age group of 25–30 years as the most suitable for marriage, highlighting a societal preference for individuals to complete their education and establish early career stability before entering into marital commitments</a:t>
            </a:r>
          </a:p>
          <a:p>
            <a:pPr marL="0" lvl="0" indent="0" algn="just">
              <a:lnSpc>
                <a:spcPts val="3547"/>
              </a:lnSpc>
              <a:spcBef>
                <a:spcPct val="0"/>
              </a:spcBef>
            </a:pPr>
            <a:endParaRPr lang="en-US" sz="2534" u="none" strike="noStrike">
              <a:solidFill>
                <a:srgbClr val="505050"/>
              </a:solidFill>
              <a:latin typeface="Roca One"/>
              <a:ea typeface="Roca One"/>
              <a:cs typeface="Roca One"/>
              <a:sym typeface="Roca On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0" y="7418752"/>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14052" y="1028700"/>
            <a:ext cx="7847509" cy="8250979"/>
          </a:xfrm>
          <a:custGeom>
            <a:avLst/>
            <a:gdLst/>
            <a:ahLst/>
            <a:cxnLst/>
            <a:rect l="l" t="t" r="r" b="b"/>
            <a:pathLst>
              <a:path w="7847509" h="8250979">
                <a:moveTo>
                  <a:pt x="0" y="0"/>
                </a:moveTo>
                <a:lnTo>
                  <a:pt x="7847508" y="0"/>
                </a:lnTo>
                <a:lnTo>
                  <a:pt x="7847508" y="8250979"/>
                </a:lnTo>
                <a:lnTo>
                  <a:pt x="0" y="8250979"/>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8667577" y="3111299"/>
            <a:ext cx="8591723" cy="2981555"/>
          </a:xfrm>
          <a:prstGeom prst="rect">
            <a:avLst/>
          </a:prstGeom>
        </p:spPr>
        <p:txBody>
          <a:bodyPr lIns="0" tIns="0" rIns="0" bIns="0" rtlCol="0" anchor="t">
            <a:spAutoFit/>
          </a:bodyPr>
          <a:lstStyle/>
          <a:p>
            <a:pPr marL="0" lvl="0" indent="0" algn="just">
              <a:lnSpc>
                <a:spcPts val="4726"/>
              </a:lnSpc>
              <a:spcBef>
                <a:spcPct val="0"/>
              </a:spcBef>
            </a:pPr>
            <a:r>
              <a:rPr lang="en-US" sz="3376" u="none" strike="noStrike">
                <a:solidFill>
                  <a:srgbClr val="505050"/>
                </a:solidFill>
                <a:latin typeface="Roca One"/>
                <a:ea typeface="Roca One"/>
                <a:cs typeface="Roca One"/>
                <a:sym typeface="Roca One"/>
              </a:rPr>
              <a:t>Over half of respondents 52% are comfortable with a Spouse having debt, while 27.6% are Uncertain and 20.4% are Opposed. This shows that debt plays an important role in marital decisions.</a:t>
            </a:r>
          </a:p>
        </p:txBody>
      </p:sp>
      <p:sp>
        <p:nvSpPr>
          <p:cNvPr id="5" name="Freeform 5"/>
          <p:cNvSpPr/>
          <p:nvPr/>
        </p:nvSpPr>
        <p:spPr>
          <a:xfrm>
            <a:off x="11429145" y="0"/>
            <a:ext cx="6858855" cy="2868248"/>
          </a:xfrm>
          <a:custGeom>
            <a:avLst/>
            <a:gdLst/>
            <a:ahLst/>
            <a:cxnLst/>
            <a:rect l="l" t="t" r="r" b="b"/>
            <a:pathLst>
              <a:path w="6858855" h="2868248">
                <a:moveTo>
                  <a:pt x="0" y="0"/>
                </a:moveTo>
                <a:lnTo>
                  <a:pt x="6858855" y="0"/>
                </a:lnTo>
                <a:lnTo>
                  <a:pt x="6858855" y="2868248"/>
                </a:lnTo>
                <a:lnTo>
                  <a:pt x="0" y="2868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6986038" y="5803961"/>
            <a:ext cx="3985829" cy="4483039"/>
          </a:xfrm>
          <a:custGeom>
            <a:avLst/>
            <a:gdLst/>
            <a:ahLst/>
            <a:cxnLst/>
            <a:rect l="l" t="t" r="r" b="b"/>
            <a:pathLst>
              <a:path w="3985829" h="4483039">
                <a:moveTo>
                  <a:pt x="0" y="0"/>
                </a:moveTo>
                <a:lnTo>
                  <a:pt x="3985829" y="0"/>
                </a:lnTo>
                <a:lnTo>
                  <a:pt x="3985829" y="4483039"/>
                </a:lnTo>
                <a:lnTo>
                  <a:pt x="0" y="44830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028700" y="7172597"/>
            <a:ext cx="5218899" cy="17272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505050"/>
                </a:solidFill>
                <a:latin typeface="Roca One"/>
                <a:ea typeface="Roca One"/>
                <a:cs typeface="Roca One"/>
                <a:sym typeface="Roca One"/>
              </a:rPr>
              <a:t>80%Stress Financial Stability Most believe both partners must be financially secure before marriage.</a:t>
            </a:r>
          </a:p>
        </p:txBody>
      </p:sp>
      <p:sp>
        <p:nvSpPr>
          <p:cNvPr id="4" name="TextBox 4"/>
          <p:cNvSpPr txBox="1"/>
          <p:nvPr/>
        </p:nvSpPr>
        <p:spPr>
          <a:xfrm>
            <a:off x="0" y="6183119"/>
            <a:ext cx="7801932" cy="754337"/>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FINANCIAL STABILITY FIRST</a:t>
            </a:r>
          </a:p>
        </p:txBody>
      </p:sp>
      <p:sp>
        <p:nvSpPr>
          <p:cNvPr id="5" name="TextBox 5"/>
          <p:cNvSpPr txBox="1"/>
          <p:nvPr/>
        </p:nvSpPr>
        <p:spPr>
          <a:xfrm>
            <a:off x="11713616" y="7241498"/>
            <a:ext cx="5545684" cy="1727200"/>
          </a:xfrm>
          <a:prstGeom prst="rect">
            <a:avLst/>
          </a:prstGeom>
        </p:spPr>
        <p:txBody>
          <a:bodyPr lIns="0" tIns="0" rIns="0" bIns="0" rtlCol="0" anchor="t">
            <a:spAutoFit/>
          </a:bodyPr>
          <a:lstStyle/>
          <a:p>
            <a:pPr algn="ctr">
              <a:lnSpc>
                <a:spcPts val="3499"/>
              </a:lnSpc>
            </a:pPr>
            <a:r>
              <a:rPr lang="en-US" sz="2499">
                <a:solidFill>
                  <a:srgbClr val="505050"/>
                </a:solidFill>
                <a:latin typeface="Roca One"/>
                <a:ea typeface="Roca One"/>
                <a:cs typeface="Roca One"/>
                <a:sym typeface="Roca One"/>
              </a:rPr>
              <a:t>Gender Roles Split</a:t>
            </a:r>
          </a:p>
          <a:p>
            <a:pPr marL="0" lvl="0" indent="0" algn="ctr">
              <a:lnSpc>
                <a:spcPts val="3499"/>
              </a:lnSpc>
              <a:spcBef>
                <a:spcPct val="0"/>
              </a:spcBef>
            </a:pPr>
            <a:r>
              <a:rPr lang="en-US" sz="2499">
                <a:solidFill>
                  <a:srgbClr val="505050"/>
                </a:solidFill>
                <a:latin typeface="Roca One"/>
                <a:ea typeface="Roca One"/>
                <a:cs typeface="Roca One"/>
                <a:sym typeface="Roca One"/>
              </a:rPr>
              <a:t>Men (60%) accept higher burden; women (65%) prefer 50/50 with added security.</a:t>
            </a:r>
          </a:p>
        </p:txBody>
      </p:sp>
      <p:sp>
        <p:nvSpPr>
          <p:cNvPr id="6" name="TextBox 6"/>
          <p:cNvSpPr txBox="1"/>
          <p:nvPr/>
        </p:nvSpPr>
        <p:spPr>
          <a:xfrm>
            <a:off x="11601650" y="6319454"/>
            <a:ext cx="5769617" cy="750571"/>
          </a:xfrm>
          <a:prstGeom prst="rect">
            <a:avLst/>
          </a:prstGeom>
        </p:spPr>
        <p:txBody>
          <a:bodyPr lIns="0" tIns="0" rIns="0" bIns="0" rtlCol="0" anchor="t">
            <a:spAutoFit/>
          </a:bodyPr>
          <a:lstStyle/>
          <a:p>
            <a:pPr marL="0" lvl="0" indent="0" algn="ctr">
              <a:lnSpc>
                <a:spcPts val="5879"/>
              </a:lnSpc>
              <a:spcBef>
                <a:spcPct val="0"/>
              </a:spcBef>
            </a:pPr>
            <a:r>
              <a:rPr lang="en-US" sz="4199" b="1">
                <a:solidFill>
                  <a:srgbClr val="21575B"/>
                </a:solidFill>
                <a:latin typeface="Boston Angel Bold"/>
                <a:ea typeface="Boston Angel Bold"/>
                <a:cs typeface="Boston Angel Bold"/>
                <a:sym typeface="Boston Angel Bold"/>
              </a:rPr>
              <a:t>GENDER ROLE DIVIDE</a:t>
            </a:r>
          </a:p>
        </p:txBody>
      </p:sp>
      <p:sp>
        <p:nvSpPr>
          <p:cNvPr id="7" name="TextBox 7"/>
          <p:cNvSpPr txBox="1"/>
          <p:nvPr/>
        </p:nvSpPr>
        <p:spPr>
          <a:xfrm>
            <a:off x="6364109" y="2762133"/>
            <a:ext cx="5559781" cy="128905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505050"/>
                </a:solidFill>
                <a:latin typeface="Roca One"/>
                <a:ea typeface="Roca One"/>
                <a:cs typeface="Roca One"/>
                <a:sym typeface="Roca One"/>
              </a:rPr>
              <a:t>70% Value Practicality with Love Compatibility &amp; companionship matter more than romance alone</a:t>
            </a:r>
          </a:p>
        </p:txBody>
      </p:sp>
      <p:sp>
        <p:nvSpPr>
          <p:cNvPr id="8" name="TextBox 8"/>
          <p:cNvSpPr txBox="1"/>
          <p:nvPr/>
        </p:nvSpPr>
        <p:spPr>
          <a:xfrm>
            <a:off x="6043275" y="4146486"/>
            <a:ext cx="6295215" cy="750594"/>
          </a:xfrm>
          <a:prstGeom prst="rect">
            <a:avLst/>
          </a:prstGeom>
        </p:spPr>
        <p:txBody>
          <a:bodyPr lIns="0" tIns="0" rIns="0" bIns="0" rtlCol="0" anchor="t">
            <a:spAutoFit/>
          </a:bodyPr>
          <a:lstStyle/>
          <a:p>
            <a:pPr marL="0" lvl="0" indent="0" algn="ctr">
              <a:lnSpc>
                <a:spcPts val="5879"/>
              </a:lnSpc>
              <a:spcBef>
                <a:spcPct val="0"/>
              </a:spcBef>
            </a:pPr>
            <a:r>
              <a:rPr lang="en-US" sz="4199" b="1">
                <a:solidFill>
                  <a:srgbClr val="21575B"/>
                </a:solidFill>
                <a:latin typeface="Boston Angel Bold"/>
                <a:ea typeface="Boston Angel Bold"/>
                <a:cs typeface="Boston Angel Bold"/>
                <a:sym typeface="Boston Angel Bold"/>
              </a:rPr>
              <a:t>LOVE PLUS PRACTICALITY</a:t>
            </a:r>
          </a:p>
        </p:txBody>
      </p:sp>
      <p:sp>
        <p:nvSpPr>
          <p:cNvPr id="9" name="AutoShape 9"/>
          <p:cNvSpPr/>
          <p:nvPr/>
        </p:nvSpPr>
        <p:spPr>
          <a:xfrm>
            <a:off x="3638149" y="5575361"/>
            <a:ext cx="10848309" cy="0"/>
          </a:xfrm>
          <a:prstGeom prst="line">
            <a:avLst/>
          </a:prstGeom>
          <a:ln w="38100" cap="flat">
            <a:solidFill>
              <a:srgbClr val="21575B"/>
            </a:solidFill>
            <a:prstDash val="solid"/>
            <a:headEnd type="none" w="sm" len="sm"/>
            <a:tailEnd type="none" w="sm" len="sm"/>
          </a:ln>
        </p:spPr>
        <p:txBody>
          <a:bodyPr/>
          <a:lstStyle/>
          <a:p>
            <a:endParaRPr lang="en-IN"/>
          </a:p>
        </p:txBody>
      </p:sp>
      <p:grpSp>
        <p:nvGrpSpPr>
          <p:cNvPr id="10" name="Group 10"/>
          <p:cNvGrpSpPr/>
          <p:nvPr/>
        </p:nvGrpSpPr>
        <p:grpSpPr>
          <a:xfrm>
            <a:off x="8703661" y="5106630"/>
            <a:ext cx="880679" cy="88067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2</a:t>
              </a:r>
            </a:p>
          </p:txBody>
        </p:sp>
      </p:grpSp>
      <p:grpSp>
        <p:nvGrpSpPr>
          <p:cNvPr id="13" name="Group 13"/>
          <p:cNvGrpSpPr/>
          <p:nvPr/>
        </p:nvGrpSpPr>
        <p:grpSpPr>
          <a:xfrm>
            <a:off x="3197810" y="5143500"/>
            <a:ext cx="880679" cy="88067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1</a:t>
              </a:r>
            </a:p>
          </p:txBody>
        </p:sp>
      </p:grpSp>
      <p:grpSp>
        <p:nvGrpSpPr>
          <p:cNvPr id="16" name="Group 16"/>
          <p:cNvGrpSpPr/>
          <p:nvPr/>
        </p:nvGrpSpPr>
        <p:grpSpPr>
          <a:xfrm>
            <a:off x="14046119" y="5106630"/>
            <a:ext cx="880679" cy="88067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3</a:t>
              </a:r>
            </a:p>
          </p:txBody>
        </p:sp>
      </p:grpSp>
      <p:sp>
        <p:nvSpPr>
          <p:cNvPr id="19" name="TextBox 19"/>
          <p:cNvSpPr txBox="1"/>
          <p:nvPr/>
        </p:nvSpPr>
        <p:spPr>
          <a:xfrm>
            <a:off x="2555784" y="155459"/>
            <a:ext cx="12846338" cy="1454150"/>
          </a:xfrm>
          <a:prstGeom prst="rect">
            <a:avLst/>
          </a:prstGeom>
        </p:spPr>
        <p:txBody>
          <a:bodyPr lIns="0" tIns="0" rIns="0" bIns="0" rtlCol="0" anchor="t">
            <a:spAutoFit/>
          </a:bodyPr>
          <a:lstStyle/>
          <a:p>
            <a:pPr algn="ctr">
              <a:lnSpc>
                <a:spcPts val="11200"/>
              </a:lnSpc>
              <a:spcBef>
                <a:spcPct val="0"/>
              </a:spcBef>
            </a:pPr>
            <a:r>
              <a:rPr lang="en-US" sz="8000">
                <a:solidFill>
                  <a:srgbClr val="21575B"/>
                </a:solidFill>
                <a:latin typeface="Boston Angel"/>
                <a:ea typeface="Boston Angel"/>
                <a:cs typeface="Boston Angel"/>
                <a:sym typeface="Boston Angel"/>
              </a:rPr>
              <a:t>PROJECT CONCLUSIONS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7034560" y="6024179"/>
            <a:ext cx="3892096" cy="4377613"/>
          </a:xfrm>
          <a:custGeom>
            <a:avLst/>
            <a:gdLst/>
            <a:ahLst/>
            <a:cxnLst/>
            <a:rect l="l" t="t" r="r" b="b"/>
            <a:pathLst>
              <a:path w="3892096" h="4377613">
                <a:moveTo>
                  <a:pt x="0" y="0"/>
                </a:moveTo>
                <a:lnTo>
                  <a:pt x="3892096" y="0"/>
                </a:lnTo>
                <a:lnTo>
                  <a:pt x="3892096" y="4377613"/>
                </a:lnTo>
                <a:lnTo>
                  <a:pt x="0" y="43776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4003245" y="288768"/>
            <a:ext cx="10281511" cy="1454190"/>
          </a:xfrm>
          <a:prstGeom prst="rect">
            <a:avLst/>
          </a:prstGeom>
        </p:spPr>
        <p:txBody>
          <a:bodyPr lIns="0" tIns="0" rIns="0" bIns="0" rtlCol="0" anchor="t">
            <a:spAutoFit/>
          </a:bodyPr>
          <a:lstStyle/>
          <a:p>
            <a:pPr marL="0" lvl="0" indent="0" algn="ctr">
              <a:lnSpc>
                <a:spcPts val="11200"/>
              </a:lnSpc>
              <a:spcBef>
                <a:spcPct val="0"/>
              </a:spcBef>
            </a:pPr>
            <a:r>
              <a:rPr lang="en-US" sz="8000" u="none" strike="noStrike">
                <a:solidFill>
                  <a:srgbClr val="21575B"/>
                </a:solidFill>
                <a:latin typeface="Boston Angel"/>
                <a:ea typeface="Boston Angel"/>
                <a:cs typeface="Boston Angel"/>
                <a:sym typeface="Boston Angel"/>
              </a:rPr>
              <a:t>PROJECT CONCLUSIONS </a:t>
            </a:r>
          </a:p>
        </p:txBody>
      </p:sp>
      <p:sp>
        <p:nvSpPr>
          <p:cNvPr id="4" name="TextBox 4"/>
          <p:cNvSpPr txBox="1"/>
          <p:nvPr/>
        </p:nvSpPr>
        <p:spPr>
          <a:xfrm>
            <a:off x="1028700" y="7441523"/>
            <a:ext cx="5218899" cy="17272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505050"/>
                </a:solidFill>
                <a:latin typeface="Roca One"/>
                <a:ea typeface="Roca One"/>
                <a:cs typeface="Roca One"/>
                <a:sym typeface="Roca One"/>
              </a:rPr>
              <a:t>55% Face Freedom vs Pressure Marriage seen as balancing autonomy with family/societal expectations.</a:t>
            </a:r>
          </a:p>
        </p:txBody>
      </p:sp>
      <p:sp>
        <p:nvSpPr>
          <p:cNvPr id="5" name="TextBox 5"/>
          <p:cNvSpPr txBox="1"/>
          <p:nvPr/>
        </p:nvSpPr>
        <p:spPr>
          <a:xfrm>
            <a:off x="0" y="6201018"/>
            <a:ext cx="7319068" cy="750571"/>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FREEDOM VS. PRESSURE</a:t>
            </a:r>
          </a:p>
        </p:txBody>
      </p:sp>
      <p:sp>
        <p:nvSpPr>
          <p:cNvPr id="6" name="TextBox 6"/>
          <p:cNvSpPr txBox="1"/>
          <p:nvPr/>
        </p:nvSpPr>
        <p:spPr>
          <a:xfrm>
            <a:off x="11713616" y="7241498"/>
            <a:ext cx="5545684" cy="1289050"/>
          </a:xfrm>
          <a:prstGeom prst="rect">
            <a:avLst/>
          </a:prstGeom>
        </p:spPr>
        <p:txBody>
          <a:bodyPr lIns="0" tIns="0" rIns="0" bIns="0" rtlCol="0" anchor="t">
            <a:spAutoFit/>
          </a:bodyPr>
          <a:lstStyle/>
          <a:p>
            <a:pPr algn="ctr">
              <a:lnSpc>
                <a:spcPts val="3499"/>
              </a:lnSpc>
            </a:pPr>
            <a:r>
              <a:rPr lang="en-US" sz="2499">
                <a:solidFill>
                  <a:srgbClr val="505050"/>
                </a:solidFill>
                <a:latin typeface="Roca One"/>
                <a:ea typeface="Roca One"/>
                <a:cs typeface="Roca One"/>
                <a:sym typeface="Roca One"/>
              </a:rPr>
              <a:t>75% Seek Security + Equality</a:t>
            </a:r>
          </a:p>
          <a:p>
            <a:pPr marL="0" lvl="0" indent="0" algn="ctr">
              <a:lnSpc>
                <a:spcPts val="3499"/>
              </a:lnSpc>
              <a:spcBef>
                <a:spcPct val="0"/>
              </a:spcBef>
            </a:pPr>
            <a:r>
              <a:rPr lang="en-US" sz="2499">
                <a:solidFill>
                  <a:srgbClr val="505050"/>
                </a:solidFill>
                <a:latin typeface="Roca One"/>
                <a:ea typeface="Roca One"/>
                <a:cs typeface="Roca One"/>
                <a:sym typeface="Roca One"/>
              </a:rPr>
              <a:t>Ideal marriage blends independence with shared responsibility.</a:t>
            </a:r>
          </a:p>
        </p:txBody>
      </p:sp>
      <p:sp>
        <p:nvSpPr>
          <p:cNvPr id="7" name="TextBox 7"/>
          <p:cNvSpPr txBox="1"/>
          <p:nvPr/>
        </p:nvSpPr>
        <p:spPr>
          <a:xfrm>
            <a:off x="10684916" y="6201018"/>
            <a:ext cx="7603084" cy="750571"/>
          </a:xfrm>
          <a:prstGeom prst="rect">
            <a:avLst/>
          </a:prstGeom>
        </p:spPr>
        <p:txBody>
          <a:bodyPr lIns="0" tIns="0" rIns="0" bIns="0" rtlCol="0" anchor="t">
            <a:spAutoFit/>
          </a:bodyPr>
          <a:lstStyle/>
          <a:p>
            <a:pPr marL="0" lvl="0" indent="0" algn="ctr">
              <a:lnSpc>
                <a:spcPts val="5879"/>
              </a:lnSpc>
              <a:spcBef>
                <a:spcPct val="0"/>
              </a:spcBef>
            </a:pPr>
            <a:r>
              <a:rPr lang="en-US" sz="4199" b="1">
                <a:solidFill>
                  <a:srgbClr val="21575B"/>
                </a:solidFill>
                <a:latin typeface="Boston Angel Bold"/>
                <a:ea typeface="Boston Angel Bold"/>
                <a:cs typeface="Boston Angel Bold"/>
                <a:sym typeface="Boston Angel Bold"/>
              </a:rPr>
              <a:t>SECURITY WITH EQUALITY</a:t>
            </a:r>
          </a:p>
        </p:txBody>
      </p:sp>
      <p:sp>
        <p:nvSpPr>
          <p:cNvPr id="8" name="TextBox 8"/>
          <p:cNvSpPr txBox="1"/>
          <p:nvPr/>
        </p:nvSpPr>
        <p:spPr>
          <a:xfrm>
            <a:off x="6364109" y="2762133"/>
            <a:ext cx="5559781" cy="1289050"/>
          </a:xfrm>
          <a:prstGeom prst="rect">
            <a:avLst/>
          </a:prstGeom>
        </p:spPr>
        <p:txBody>
          <a:bodyPr lIns="0" tIns="0" rIns="0" bIns="0" rtlCol="0" anchor="t">
            <a:spAutoFit/>
          </a:bodyPr>
          <a:lstStyle/>
          <a:p>
            <a:pPr algn="ctr">
              <a:lnSpc>
                <a:spcPts val="3499"/>
              </a:lnSpc>
            </a:pPr>
            <a:r>
              <a:rPr lang="en-US" sz="2499">
                <a:solidFill>
                  <a:srgbClr val="505050"/>
                </a:solidFill>
                <a:latin typeface="Roca One"/>
                <a:ea typeface="Roca One"/>
                <a:cs typeface="Roca One"/>
                <a:sym typeface="Roca One"/>
              </a:rPr>
              <a:t>65% Support Financial Safeguards</a:t>
            </a:r>
          </a:p>
          <a:p>
            <a:pPr algn="ctr">
              <a:lnSpc>
                <a:spcPts val="3499"/>
              </a:lnSpc>
            </a:pPr>
            <a:r>
              <a:rPr lang="en-US" sz="2499">
                <a:solidFill>
                  <a:srgbClr val="505050"/>
                </a:solidFill>
                <a:latin typeface="Roca One"/>
                <a:ea typeface="Roca One"/>
                <a:cs typeface="Roca One"/>
                <a:sym typeface="Roca One"/>
              </a:rPr>
              <a:t>Prenuptial agreements &amp; property</a:t>
            </a:r>
          </a:p>
          <a:p>
            <a:pPr marL="0" lvl="0" indent="0" algn="ctr">
              <a:lnSpc>
                <a:spcPts val="3499"/>
              </a:lnSpc>
              <a:spcBef>
                <a:spcPct val="0"/>
              </a:spcBef>
            </a:pPr>
            <a:r>
              <a:rPr lang="en-US" sz="2499">
                <a:solidFill>
                  <a:srgbClr val="505050"/>
                </a:solidFill>
                <a:latin typeface="Roca One"/>
                <a:ea typeface="Roca One"/>
                <a:cs typeface="Roca One"/>
                <a:sym typeface="Roca One"/>
              </a:rPr>
              <a:t>protection gain strong approval.</a:t>
            </a:r>
          </a:p>
        </p:txBody>
      </p:sp>
      <p:sp>
        <p:nvSpPr>
          <p:cNvPr id="9" name="TextBox 9"/>
          <p:cNvSpPr txBox="1"/>
          <p:nvPr/>
        </p:nvSpPr>
        <p:spPr>
          <a:xfrm>
            <a:off x="5384733" y="4146486"/>
            <a:ext cx="7612299" cy="750571"/>
          </a:xfrm>
          <a:prstGeom prst="rect">
            <a:avLst/>
          </a:prstGeom>
        </p:spPr>
        <p:txBody>
          <a:bodyPr lIns="0" tIns="0" rIns="0" bIns="0" rtlCol="0" anchor="t">
            <a:spAutoFit/>
          </a:bodyPr>
          <a:lstStyle/>
          <a:p>
            <a:pPr marL="0" lvl="0" indent="0" algn="ctr">
              <a:lnSpc>
                <a:spcPts val="5879"/>
              </a:lnSpc>
              <a:spcBef>
                <a:spcPct val="0"/>
              </a:spcBef>
            </a:pPr>
            <a:r>
              <a:rPr lang="en-US" sz="4199" b="1" u="none" strike="noStrike">
                <a:solidFill>
                  <a:srgbClr val="21575B"/>
                </a:solidFill>
                <a:latin typeface="Boston Angel Bold"/>
                <a:ea typeface="Boston Angel Bold"/>
                <a:cs typeface="Boston Angel Bold"/>
                <a:sym typeface="Boston Angel Bold"/>
              </a:rPr>
              <a:t>FINANCIAL SAFE GUARDS</a:t>
            </a:r>
          </a:p>
        </p:txBody>
      </p:sp>
      <p:sp>
        <p:nvSpPr>
          <p:cNvPr id="10" name="AutoShape 10"/>
          <p:cNvSpPr/>
          <p:nvPr/>
        </p:nvSpPr>
        <p:spPr>
          <a:xfrm flipV="1">
            <a:off x="3638149" y="5548122"/>
            <a:ext cx="10407971" cy="27239"/>
          </a:xfrm>
          <a:prstGeom prst="line">
            <a:avLst/>
          </a:prstGeom>
          <a:ln w="38100" cap="flat">
            <a:solidFill>
              <a:srgbClr val="21575B"/>
            </a:solidFill>
            <a:prstDash val="solid"/>
            <a:headEnd type="none" w="sm" len="sm"/>
            <a:tailEnd type="none" w="sm" len="sm"/>
          </a:ln>
        </p:spPr>
        <p:txBody>
          <a:bodyPr/>
          <a:lstStyle/>
          <a:p>
            <a:endParaRPr lang="en-IN"/>
          </a:p>
        </p:txBody>
      </p:sp>
      <p:grpSp>
        <p:nvGrpSpPr>
          <p:cNvPr id="11" name="Group 11"/>
          <p:cNvGrpSpPr/>
          <p:nvPr/>
        </p:nvGrpSpPr>
        <p:grpSpPr>
          <a:xfrm>
            <a:off x="8703661" y="5106630"/>
            <a:ext cx="880679" cy="88067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5</a:t>
              </a:r>
            </a:p>
          </p:txBody>
        </p:sp>
      </p:grpSp>
      <p:grpSp>
        <p:nvGrpSpPr>
          <p:cNvPr id="14" name="Group 14"/>
          <p:cNvGrpSpPr/>
          <p:nvPr/>
        </p:nvGrpSpPr>
        <p:grpSpPr>
          <a:xfrm>
            <a:off x="3197810" y="5143500"/>
            <a:ext cx="880679" cy="88067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4</a:t>
              </a:r>
            </a:p>
          </p:txBody>
        </p:sp>
      </p:grpSp>
      <p:grpSp>
        <p:nvGrpSpPr>
          <p:cNvPr id="17" name="Group 17"/>
          <p:cNvGrpSpPr/>
          <p:nvPr/>
        </p:nvGrpSpPr>
        <p:grpSpPr>
          <a:xfrm>
            <a:off x="14046119" y="5106630"/>
            <a:ext cx="880679" cy="88067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6D72"/>
            </a:solidFill>
          </p:spPr>
          <p:txBody>
            <a:bodyPr/>
            <a:lstStyle/>
            <a:p>
              <a:endParaRPr lang="en-IN"/>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3499"/>
                </a:lnSpc>
              </a:pPr>
              <a:r>
                <a:rPr lang="en-US" sz="2499" b="1">
                  <a:solidFill>
                    <a:srgbClr val="FFFFFF"/>
                  </a:solidFill>
                  <a:latin typeface="Roca One Bold"/>
                  <a:ea typeface="Roca One Bold"/>
                  <a:cs typeface="Roca One Bold"/>
                  <a:sym typeface="Roca One Bold"/>
                </a:rPr>
                <a:t>6</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BADAD5"/>
        </a:solidFill>
        <a:effectLst/>
      </p:bgPr>
    </p:bg>
    <p:spTree>
      <p:nvGrpSpPr>
        <p:cNvPr id="1" name=""/>
        <p:cNvGrpSpPr/>
        <p:nvPr/>
      </p:nvGrpSpPr>
      <p:grpSpPr>
        <a:xfrm>
          <a:off x="0" y="0"/>
          <a:ext cx="0" cy="0"/>
          <a:chOff x="0" y="0"/>
          <a:chExt cx="0" cy="0"/>
        </a:xfrm>
      </p:grpSpPr>
      <p:sp>
        <p:nvSpPr>
          <p:cNvPr id="2" name="Freeform 2"/>
          <p:cNvSpPr/>
          <p:nvPr/>
        </p:nvSpPr>
        <p:spPr>
          <a:xfrm>
            <a:off x="3472457" y="5856787"/>
            <a:ext cx="9950848" cy="4104725"/>
          </a:xfrm>
          <a:custGeom>
            <a:avLst/>
            <a:gdLst/>
            <a:ahLst/>
            <a:cxnLst/>
            <a:rect l="l" t="t" r="r" b="b"/>
            <a:pathLst>
              <a:path w="9950848" h="4104725">
                <a:moveTo>
                  <a:pt x="0" y="0"/>
                </a:moveTo>
                <a:lnTo>
                  <a:pt x="9950849" y="0"/>
                </a:lnTo>
                <a:lnTo>
                  <a:pt x="9950849" y="4104725"/>
                </a:lnTo>
                <a:lnTo>
                  <a:pt x="0" y="4104725"/>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028700" y="2131610"/>
            <a:ext cx="15280933" cy="4050665"/>
          </a:xfrm>
          <a:prstGeom prst="rect">
            <a:avLst/>
          </a:prstGeom>
        </p:spPr>
        <p:txBody>
          <a:bodyPr lIns="0" tIns="0" rIns="0" bIns="0" rtlCol="0" anchor="t">
            <a:spAutoFit/>
          </a:bodyPr>
          <a:lstStyle/>
          <a:p>
            <a:pPr marL="716002" lvl="1" indent="-358001" algn="just">
              <a:lnSpc>
                <a:spcPts val="4642"/>
              </a:lnSpc>
              <a:buFont typeface="Arial"/>
              <a:buChar char="•"/>
            </a:pPr>
            <a:r>
              <a:rPr lang="en-US" sz="3316">
                <a:solidFill>
                  <a:srgbClr val="505050"/>
                </a:solidFill>
                <a:latin typeface="Roca One"/>
                <a:ea typeface="Roca One"/>
                <a:cs typeface="Roca One"/>
                <a:sym typeface="Roca One"/>
              </a:rPr>
              <a:t>Amato, P R.(2010). Research on divorce: Continuing trends and new developments. Journal of Marriage and Family, 72(3), 650-666.</a:t>
            </a:r>
          </a:p>
          <a:p>
            <a:pPr marL="716002" lvl="1" indent="-358001" algn="just">
              <a:lnSpc>
                <a:spcPts val="4642"/>
              </a:lnSpc>
              <a:buFont typeface="Arial"/>
              <a:buChar char="•"/>
            </a:pPr>
            <a:r>
              <a:rPr lang="en-US" sz="3316">
                <a:solidFill>
                  <a:srgbClr val="505050"/>
                </a:solidFill>
                <a:latin typeface="Roca One"/>
                <a:ea typeface="Roca One"/>
                <a:cs typeface="Roca One"/>
                <a:sym typeface="Roca One"/>
              </a:rPr>
              <a:t>Kabeer, N. (1999), Resources, agency, achievements: Reflections on the measurement of women's empowerment. Derelopment and Change, 30(3), 435464.</a:t>
            </a:r>
          </a:p>
          <a:p>
            <a:pPr marL="716002" lvl="1" indent="-358001" algn="just">
              <a:lnSpc>
                <a:spcPts val="4642"/>
              </a:lnSpc>
              <a:buFont typeface="Arial"/>
              <a:buChar char="•"/>
            </a:pPr>
            <a:r>
              <a:rPr lang="en-US" sz="3316">
                <a:solidFill>
                  <a:srgbClr val="505050"/>
                </a:solidFill>
                <a:latin typeface="Roca One"/>
                <a:ea typeface="Roca One"/>
                <a:cs typeface="Roca One"/>
                <a:sym typeface="Roca One"/>
              </a:rPr>
              <a:t>Desai, S., &amp; Andrist, L.(2010), Gender scripts and age at marriage in India. Demography, 47(3), 667-687.</a:t>
            </a:r>
          </a:p>
        </p:txBody>
      </p:sp>
      <p:sp>
        <p:nvSpPr>
          <p:cNvPr id="4" name="TextBox 4"/>
          <p:cNvSpPr txBox="1"/>
          <p:nvPr/>
        </p:nvSpPr>
        <p:spPr>
          <a:xfrm>
            <a:off x="5548219" y="562734"/>
            <a:ext cx="7191563" cy="1454150"/>
          </a:xfrm>
          <a:prstGeom prst="rect">
            <a:avLst/>
          </a:prstGeom>
        </p:spPr>
        <p:txBody>
          <a:bodyPr lIns="0" tIns="0" rIns="0" bIns="0" rtlCol="0" anchor="t">
            <a:spAutoFit/>
          </a:bodyPr>
          <a:lstStyle/>
          <a:p>
            <a:pPr marL="0" lvl="0" indent="0" algn="ctr">
              <a:lnSpc>
                <a:spcPts val="11200"/>
              </a:lnSpc>
              <a:spcBef>
                <a:spcPct val="0"/>
              </a:spcBef>
            </a:pPr>
            <a:r>
              <a:rPr lang="en-US" sz="8000" b="1">
                <a:solidFill>
                  <a:srgbClr val="21575B"/>
                </a:solidFill>
                <a:latin typeface="Boston Angel Bold"/>
                <a:ea typeface="Boston Angel Bold"/>
                <a:cs typeface="Boston Angel Bold"/>
                <a:sym typeface="Boston Angel Bold"/>
              </a:rPr>
              <a:t>REFERENCE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1270</Words>
  <Application>Microsoft Office PowerPoint</Application>
  <PresentationFormat>Custom</PresentationFormat>
  <Paragraphs>134</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Boston Angel Bold</vt:lpstr>
      <vt:lpstr>Boston Angel</vt:lpstr>
      <vt:lpstr>Calibri</vt:lpstr>
      <vt:lpstr>Caladea</vt:lpstr>
      <vt:lpstr>Public Sans</vt:lpstr>
      <vt:lpstr>Canva Sans Bold</vt:lpstr>
      <vt:lpstr>Roca One</vt:lpstr>
      <vt:lpstr>Roca One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PROJECT</dc:title>
  <cp:lastModifiedBy>Atharva Patil</cp:lastModifiedBy>
  <cp:revision>1</cp:revision>
  <dcterms:created xsi:type="dcterms:W3CDTF">2006-08-16T00:00:00Z</dcterms:created>
  <dcterms:modified xsi:type="dcterms:W3CDTF">2025-10-04T06:33:03Z</dcterms:modified>
  <dc:identifier>DAG0tjl6kI0</dc:identifier>
</cp:coreProperties>
</file>